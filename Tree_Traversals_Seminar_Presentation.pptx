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5303520" cy="470916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23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09360" y="1097280"/>
            <a:ext cx="5120640" cy="4709160"/>
          </a:xfrm>
          <a:prstGeom prst="roundRect">
            <a:avLst/>
          </a:prstGeom>
          <a:solidFill>
            <a:srgbClr val="0E1420"/>
          </a:solidFill>
          <a:ln w="12700">
            <a:solidFill>
              <a:srgbClr val="23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1417320"/>
            <a:ext cx="3291840" cy="274320"/>
          </a:xfrm>
          <a:prstGeom prst="roundRect">
            <a:avLst/>
          </a:prstGeom>
          <a:solidFill>
            <a:srgbClr val="0E1420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4D399"/>
                </a:solidFill>
                <a:latin typeface="Consolas"/>
              </a:defRPr>
            </a:pPr>
            <a:r>
              <a:t>COMPUTER SCIENCE SEMINAR • DSA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defRPr sz="3800" b="1">
                <a:solidFill>
                  <a:srgbClr val="F8FAFC"/>
                </a:solidFill>
                <a:latin typeface="Segoe UI"/>
              </a:defRPr>
            </a:pPr>
            <a:r>
              <a:t>TREE</a:t>
            </a:r>
            <a:br/>
            <a:r>
              <a:t>TRAVERSALS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Segoe UI"/>
              </a:defRPr>
            </a:pPr>
            <a:r>
              <a:t>Understanding Inorder, Preorder &amp; Postorder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977639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 structured conceptual guide to systematic node exploration, recursive mechanics, complexity tradeoffs, and real-world software applications.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983480"/>
            <a:ext cx="4572000" cy="502920"/>
          </a:xfrm>
          <a:prstGeom prst="roundRect">
            <a:avLst/>
          </a:prstGeom>
          <a:solidFill>
            <a:srgbClr val="0E1420"/>
          </a:solidFill>
          <a:ln>
            <a:solidFill>
              <a:srgbClr val="1C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64748B"/>
                </a:solidFill>
                <a:latin typeface="Consolas"/>
              </a:defRPr>
            </a:pPr>
            <a:r>
              <a:t>PAIR PROGRAMMING COMPANION  |  INTERACTIVE VISUALIZER SUITE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2801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DD3FC"/>
                </a:solidFill>
                <a:latin typeface="Consolas"/>
              </a:defRPr>
            </a:pPr>
            <a:r>
              <a:t>CANONICAL REFERENCE BENCHMARK TREE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7511796" y="2057400"/>
            <a:ext cx="1357884" cy="912114"/>
          </a:xfrm>
          <a:prstGeom prst="line">
            <a:avLst/>
          </a:prstGeom>
          <a:ln w="279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869680" y="2057400"/>
            <a:ext cx="1357883" cy="912114"/>
          </a:xfrm>
          <a:prstGeom prst="line">
            <a:avLst/>
          </a:prstGeom>
          <a:ln w="279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807708" y="2969514"/>
            <a:ext cx="704088" cy="912114"/>
          </a:xfrm>
          <a:prstGeom prst="line">
            <a:avLst/>
          </a:prstGeom>
          <a:ln w="279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511796" y="2969514"/>
            <a:ext cx="704087" cy="912114"/>
          </a:xfrm>
          <a:prstGeom prst="line">
            <a:avLst/>
          </a:prstGeom>
          <a:ln w="279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586215" y="1773936"/>
            <a:ext cx="566928" cy="566928"/>
          </a:xfrm>
          <a:prstGeom prst="ellipse">
            <a:avLst/>
          </a:prstGeom>
          <a:solidFill>
            <a:srgbClr val="18202F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A</a:t>
            </a:r>
          </a:p>
        </p:txBody>
      </p:sp>
      <p:sp>
        <p:nvSpPr>
          <p:cNvPr id="16" name="Oval 15"/>
          <p:cNvSpPr/>
          <p:nvPr/>
        </p:nvSpPr>
        <p:spPr>
          <a:xfrm>
            <a:off x="7228332" y="2686050"/>
            <a:ext cx="566928" cy="566928"/>
          </a:xfrm>
          <a:prstGeom prst="ellipse">
            <a:avLst/>
          </a:prstGeom>
          <a:solidFill>
            <a:srgbClr val="18202F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B</a:t>
            </a:r>
          </a:p>
        </p:txBody>
      </p:sp>
      <p:sp>
        <p:nvSpPr>
          <p:cNvPr id="17" name="Oval 16"/>
          <p:cNvSpPr/>
          <p:nvPr/>
        </p:nvSpPr>
        <p:spPr>
          <a:xfrm>
            <a:off x="9944099" y="2686050"/>
            <a:ext cx="566928" cy="566928"/>
          </a:xfrm>
          <a:prstGeom prst="ellipse">
            <a:avLst/>
          </a:prstGeom>
          <a:solidFill>
            <a:srgbClr val="18202F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C</a:t>
            </a:r>
          </a:p>
        </p:txBody>
      </p:sp>
      <p:sp>
        <p:nvSpPr>
          <p:cNvPr id="18" name="Oval 17"/>
          <p:cNvSpPr/>
          <p:nvPr/>
        </p:nvSpPr>
        <p:spPr>
          <a:xfrm>
            <a:off x="6524244" y="3598164"/>
            <a:ext cx="566928" cy="566928"/>
          </a:xfrm>
          <a:prstGeom prst="ellipse">
            <a:avLst/>
          </a:prstGeom>
          <a:solidFill>
            <a:srgbClr val="18202F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D</a:t>
            </a:r>
          </a:p>
        </p:txBody>
      </p:sp>
      <p:sp>
        <p:nvSpPr>
          <p:cNvPr id="19" name="Oval 18"/>
          <p:cNvSpPr/>
          <p:nvPr/>
        </p:nvSpPr>
        <p:spPr>
          <a:xfrm>
            <a:off x="7932419" y="3598164"/>
            <a:ext cx="566928" cy="566928"/>
          </a:xfrm>
          <a:prstGeom prst="ellipse">
            <a:avLst/>
          </a:prstGeom>
          <a:solidFill>
            <a:srgbClr val="18202F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4434840"/>
            <a:ext cx="4572000" cy="1097280"/>
          </a:xfrm>
          <a:prstGeom prst="roundRect">
            <a:avLst/>
          </a:prstGeom>
          <a:solidFill>
            <a:srgbClr val="131B2A"/>
          </a:solidFill>
          <a:ln>
            <a:solidFill>
              <a:srgbClr val="1C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950" b="1">
                <a:solidFill>
                  <a:srgbClr val="34D399"/>
                </a:solidFill>
                <a:latin typeface="Consolas"/>
              </a:defRPr>
            </a:pPr>
            <a:r>
              <a:t>INORDER   :  D → B → E → A → C   (L-N-R)</a:t>
            </a:r>
          </a:p>
          <a:p>
            <a:pPr>
              <a:defRPr sz="950" b="1">
                <a:solidFill>
                  <a:srgbClr val="7DD3FC"/>
                </a:solidFill>
                <a:latin typeface="Consolas"/>
              </a:defRPr>
            </a:pPr>
            <a:r>
              <a:t>PREORDER  :  A → B → D → E → C   (N-L-R)</a:t>
            </a:r>
          </a:p>
          <a:p>
            <a:pPr>
              <a:defRPr sz="950" b="1">
                <a:solidFill>
                  <a:srgbClr val="C084FC"/>
                </a:solidFill>
                <a:latin typeface="Consolas"/>
              </a:defRPr>
            </a:pPr>
            <a:r>
              <a:t>POSTORDER :  D → E → B → C → A   (L-R-N)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926080" cy="256032"/>
          </a:xfrm>
          <a:prstGeom prst="roundRect">
            <a:avLst/>
          </a:prstGeom>
          <a:solidFill>
            <a:srgbClr val="0E142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0B981"/>
                </a:solidFill>
                <a:latin typeface="Consolas"/>
              </a:defRPr>
            </a:pPr>
            <a:r>
              <a:t>MOTIVATION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Segoe UI"/>
              </a:defRPr>
            </a:pPr>
            <a:r>
              <a:t>Why Do We Need Tree Traversal?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43584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Moving from linear sequential structures to non-linear hierarchical branching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600200"/>
            <a:ext cx="10728655" cy="0"/>
          </a:xfrm>
          <a:prstGeom prst="line">
            <a:avLst/>
          </a:prstGeom>
          <a:ln w="12700">
            <a:solidFill>
              <a:srgbClr val="1C2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31520" y="1783080"/>
            <a:ext cx="5303520" cy="452628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23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Segoe UI"/>
              </a:defRPr>
            </a:pPr>
            <a:r>
              <a:t>The Non-Linear Exploration Dilemma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468880"/>
            <a:ext cx="4754880" cy="868680"/>
          </a:xfrm>
          <a:prstGeom prst="roundRect">
            <a:avLst/>
          </a:prstGeom>
          <a:solidFill>
            <a:srgbClr val="0E1420"/>
          </a:solidFill>
          <a:ln w="12700">
            <a:solidFill>
              <a:srgbClr val="1C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51460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DD3FC"/>
                </a:solidFill>
                <a:latin typeface="Segoe UI"/>
              </a:defRPr>
            </a:pPr>
            <a:r>
              <a:t>1. Linear Structures (Arrays, Lists)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Have a single, natural sequential path: Index 0 → 1 → 2 ... → (n-1). There is never any ambiguity about which element comes next.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3474720"/>
            <a:ext cx="4754880" cy="960120"/>
          </a:xfrm>
          <a:prstGeom prst="roundRect">
            <a:avLst/>
          </a:prstGeom>
          <a:solidFill>
            <a:srgbClr val="0E1420"/>
          </a:solidFill>
          <a:ln w="12700">
            <a:solidFill>
              <a:srgbClr val="1C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520440"/>
            <a:ext cx="4572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Segoe UI"/>
              </a:defRPr>
            </a:pPr>
            <a:r>
              <a:t>2. Hierarchical Trees (2D Branching)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Branch in multiple directions! At node A, do we inspect A first? Or go left to B? Or jump down to D? No single default sequence exists.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4572000"/>
            <a:ext cx="4754880" cy="1463040"/>
          </a:xfrm>
          <a:prstGeom prst="roundRect">
            <a:avLst/>
          </a:prstGeom>
          <a:solidFill>
            <a:srgbClr val="0A261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663440"/>
            <a:ext cx="4480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  <a:latin typeface="Consolas"/>
              </a:defRPr>
            </a:pPr>
            <a:r>
              <a:t>KEY TAKEAWAY</a:t>
            </a:r>
          </a:p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t>Traversal provides formal deterministic strategies to convert a complex 2D hierarchy into a predictable 1D sequence for processing, searching, and computation.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783080"/>
            <a:ext cx="5120640" cy="4526280"/>
          </a:xfrm>
          <a:prstGeom prst="roundRect">
            <a:avLst/>
          </a:prstGeom>
          <a:solidFill>
            <a:srgbClr val="0E1420"/>
          </a:solidFill>
          <a:ln w="12700">
            <a:solidFill>
              <a:srgbClr val="23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965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Segoe UI"/>
              </a:defRPr>
            </a:pPr>
            <a:r>
              <a:t>How Should We Visit These Nodes?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7573517" y="2697480"/>
            <a:ext cx="1296163" cy="844905"/>
          </a:xfrm>
          <a:prstGeom prst="line">
            <a:avLst/>
          </a:prstGeom>
          <a:ln w="279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869680" y="2697480"/>
            <a:ext cx="1296162" cy="844905"/>
          </a:xfrm>
          <a:prstGeom prst="line">
            <a:avLst/>
          </a:prstGeom>
          <a:ln w="279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6901433" y="3542385"/>
            <a:ext cx="672084" cy="844906"/>
          </a:xfrm>
          <a:prstGeom prst="line">
            <a:avLst/>
          </a:prstGeom>
          <a:ln w="279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73517" y="3542385"/>
            <a:ext cx="672084" cy="844906"/>
          </a:xfrm>
          <a:prstGeom prst="line">
            <a:avLst/>
          </a:prstGeom>
          <a:ln w="279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586215" y="2414016"/>
            <a:ext cx="566928" cy="566928"/>
          </a:xfrm>
          <a:prstGeom prst="ellipse">
            <a:avLst/>
          </a:prstGeom>
          <a:solidFill>
            <a:srgbClr val="18202F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A</a:t>
            </a:r>
          </a:p>
        </p:txBody>
      </p:sp>
      <p:sp>
        <p:nvSpPr>
          <p:cNvPr id="22" name="Oval 21"/>
          <p:cNvSpPr/>
          <p:nvPr/>
        </p:nvSpPr>
        <p:spPr>
          <a:xfrm>
            <a:off x="7290053" y="3258921"/>
            <a:ext cx="566928" cy="566928"/>
          </a:xfrm>
          <a:prstGeom prst="ellipse">
            <a:avLst/>
          </a:prstGeom>
          <a:solidFill>
            <a:srgbClr val="18202F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B</a:t>
            </a:r>
          </a:p>
        </p:txBody>
      </p:sp>
      <p:sp>
        <p:nvSpPr>
          <p:cNvPr id="23" name="Oval 22"/>
          <p:cNvSpPr/>
          <p:nvPr/>
        </p:nvSpPr>
        <p:spPr>
          <a:xfrm>
            <a:off x="9882378" y="3258921"/>
            <a:ext cx="566928" cy="566928"/>
          </a:xfrm>
          <a:prstGeom prst="ellipse">
            <a:avLst/>
          </a:prstGeom>
          <a:solidFill>
            <a:srgbClr val="18202F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C</a:t>
            </a:r>
          </a:p>
        </p:txBody>
      </p:sp>
      <p:sp>
        <p:nvSpPr>
          <p:cNvPr id="24" name="Oval 23"/>
          <p:cNvSpPr/>
          <p:nvPr/>
        </p:nvSpPr>
        <p:spPr>
          <a:xfrm>
            <a:off x="6617969" y="4103827"/>
            <a:ext cx="566928" cy="566928"/>
          </a:xfrm>
          <a:prstGeom prst="ellipse">
            <a:avLst/>
          </a:prstGeom>
          <a:solidFill>
            <a:srgbClr val="18202F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D</a:t>
            </a:r>
          </a:p>
        </p:txBody>
      </p:sp>
      <p:sp>
        <p:nvSpPr>
          <p:cNvPr id="25" name="Oval 24"/>
          <p:cNvSpPr/>
          <p:nvPr/>
        </p:nvSpPr>
        <p:spPr>
          <a:xfrm>
            <a:off x="7962137" y="4103827"/>
            <a:ext cx="566928" cy="566928"/>
          </a:xfrm>
          <a:prstGeom prst="ellipse">
            <a:avLst/>
          </a:prstGeom>
          <a:solidFill>
            <a:srgbClr val="18202F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0" y="4892040"/>
            <a:ext cx="4389120" cy="438912"/>
          </a:xfrm>
          <a:prstGeom prst="roundRect">
            <a:avLst/>
          </a:prstGeom>
          <a:solidFill>
            <a:srgbClr val="131B2A"/>
          </a:solidFill>
          <a:ln>
            <a:solidFill>
              <a:srgbClr val="1C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7DD3FC"/>
                </a:solidFill>
                <a:latin typeface="Consolas"/>
              </a:defRPr>
            </a:pPr>
            <a:r>
              <a:t>Choice 1: Process root A first? (Preorder)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0" y="5468112"/>
            <a:ext cx="4389120" cy="438912"/>
          </a:xfrm>
          <a:prstGeom prst="roundRect">
            <a:avLst/>
          </a:prstGeom>
          <a:solidFill>
            <a:srgbClr val="131B2A"/>
          </a:solidFill>
          <a:ln>
            <a:solidFill>
              <a:srgbClr val="1C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4D399"/>
                </a:solidFill>
                <a:latin typeface="Consolas"/>
              </a:defRPr>
            </a:pPr>
            <a:r>
              <a:t>Choice 2: Process left branch before A? (Inorder)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926080" cy="256032"/>
          </a:xfrm>
          <a:prstGeom prst="roundRect">
            <a:avLst/>
          </a:prstGeom>
          <a:solidFill>
            <a:srgbClr val="0E142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0B981"/>
                </a:solidFill>
                <a:latin typeface="Consolas"/>
              </a:defRPr>
            </a:pPr>
            <a:r>
              <a:t>CORE DATA STRUCTURE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Segoe UI"/>
              </a:defRPr>
            </a:pPr>
            <a:r>
              <a:t>Anatomy of a Binary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43584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Essential hierarchical terminology, recursive composition, and structural constraints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600200"/>
            <a:ext cx="10728655" cy="0"/>
          </a:xfrm>
          <a:prstGeom prst="line">
            <a:avLst/>
          </a:prstGeom>
          <a:ln w="12700">
            <a:solidFill>
              <a:srgbClr val="1C2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31520" y="1783080"/>
            <a:ext cx="6035040" cy="4526280"/>
          </a:xfrm>
          <a:prstGeom prst="roundRect">
            <a:avLst/>
          </a:prstGeom>
          <a:solidFill>
            <a:srgbClr val="0E1420"/>
          </a:solidFill>
          <a:ln w="12700">
            <a:solidFill>
              <a:srgbClr val="23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Structural Hierarchy &amp; Labeled Components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329433" y="2788920"/>
            <a:ext cx="1419606" cy="883310"/>
          </a:xfrm>
          <a:prstGeom prst="line">
            <a:avLst/>
          </a:prstGeom>
          <a:ln w="279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749039" y="2788920"/>
            <a:ext cx="1419607" cy="883310"/>
          </a:xfrm>
          <a:prstGeom prst="line">
            <a:avLst/>
          </a:prstGeom>
          <a:ln w="279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593341" y="3672230"/>
            <a:ext cx="736092" cy="883310"/>
          </a:xfrm>
          <a:prstGeom prst="line">
            <a:avLst/>
          </a:prstGeom>
          <a:ln w="279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29433" y="3672230"/>
            <a:ext cx="736092" cy="883310"/>
          </a:xfrm>
          <a:prstGeom prst="line">
            <a:avLst/>
          </a:prstGeom>
          <a:ln w="279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456432" y="2496312"/>
            <a:ext cx="585216" cy="585216"/>
          </a:xfrm>
          <a:prstGeom prst="ellipse">
            <a:avLst/>
          </a:prstGeom>
          <a:solidFill>
            <a:srgbClr val="18202F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45" b="1">
                <a:solidFill>
                  <a:srgbClr val="F8FAFC"/>
                </a:solidFill>
                <a:latin typeface="Segoe UI"/>
              </a:defRPr>
            </a:pPr>
            <a:r>
              <a:t>A</a:t>
            </a:r>
          </a:p>
        </p:txBody>
      </p:sp>
      <p:sp>
        <p:nvSpPr>
          <p:cNvPr id="14" name="Oval 13"/>
          <p:cNvSpPr/>
          <p:nvPr/>
        </p:nvSpPr>
        <p:spPr>
          <a:xfrm>
            <a:off x="2036825" y="3379622"/>
            <a:ext cx="585216" cy="585216"/>
          </a:xfrm>
          <a:prstGeom prst="ellipse">
            <a:avLst/>
          </a:prstGeom>
          <a:solidFill>
            <a:srgbClr val="18202F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45" b="1">
                <a:solidFill>
                  <a:srgbClr val="F8FAFC"/>
                </a:solidFill>
                <a:latin typeface="Segoe UI"/>
              </a:defRPr>
            </a:pPr>
            <a:r>
              <a:t>B</a:t>
            </a:r>
          </a:p>
        </p:txBody>
      </p:sp>
      <p:sp>
        <p:nvSpPr>
          <p:cNvPr id="15" name="Oval 14"/>
          <p:cNvSpPr/>
          <p:nvPr/>
        </p:nvSpPr>
        <p:spPr>
          <a:xfrm>
            <a:off x="4876038" y="3379622"/>
            <a:ext cx="585216" cy="585216"/>
          </a:xfrm>
          <a:prstGeom prst="ellipse">
            <a:avLst/>
          </a:prstGeom>
          <a:solidFill>
            <a:srgbClr val="18202F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45" b="1">
                <a:solidFill>
                  <a:srgbClr val="F8FAFC"/>
                </a:solidFill>
                <a:latin typeface="Segoe UI"/>
              </a:defRPr>
            </a:pPr>
            <a:r>
              <a:t>C</a:t>
            </a:r>
          </a:p>
        </p:txBody>
      </p:sp>
      <p:sp>
        <p:nvSpPr>
          <p:cNvPr id="16" name="Oval 15"/>
          <p:cNvSpPr/>
          <p:nvPr/>
        </p:nvSpPr>
        <p:spPr>
          <a:xfrm>
            <a:off x="1300733" y="4262932"/>
            <a:ext cx="585216" cy="585216"/>
          </a:xfrm>
          <a:prstGeom prst="ellipse">
            <a:avLst/>
          </a:prstGeom>
          <a:solidFill>
            <a:srgbClr val="18202F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45" b="1">
                <a:solidFill>
                  <a:srgbClr val="F8FAFC"/>
                </a:solidFill>
                <a:latin typeface="Segoe UI"/>
              </a:defRPr>
            </a:pPr>
            <a:r>
              <a:t>D</a:t>
            </a:r>
          </a:p>
        </p:txBody>
      </p:sp>
      <p:sp>
        <p:nvSpPr>
          <p:cNvPr id="17" name="Oval 16"/>
          <p:cNvSpPr/>
          <p:nvPr/>
        </p:nvSpPr>
        <p:spPr>
          <a:xfrm>
            <a:off x="2772917" y="4262932"/>
            <a:ext cx="585216" cy="585216"/>
          </a:xfrm>
          <a:prstGeom prst="ellipse">
            <a:avLst/>
          </a:prstGeom>
          <a:solidFill>
            <a:srgbClr val="18202F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45" b="1">
                <a:solidFill>
                  <a:srgbClr val="F8FAFC"/>
                </a:solidFill>
                <a:latin typeface="Segoe UI"/>
              </a:defRPr>
            </a:pPr>
            <a:r>
              <a:t>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2331720"/>
            <a:ext cx="2103120" cy="347472"/>
          </a:xfrm>
          <a:prstGeom prst="roundRect">
            <a:avLst/>
          </a:prstGeom>
          <a:solidFill>
            <a:srgbClr val="281C0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F59E0B"/>
                </a:solidFill>
                <a:latin typeface="Consolas"/>
              </a:defRPr>
            </a:pPr>
            <a:r>
              <a:t>← Root Node (Entry Point)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3520440"/>
            <a:ext cx="1234440" cy="347472"/>
          </a:xfrm>
          <a:prstGeom prst="roundRect">
            <a:avLst/>
          </a:prstGeom>
          <a:solidFill>
            <a:srgbClr val="0C233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7DD3FC"/>
                </a:solidFill>
                <a:latin typeface="Consolas"/>
              </a:defRPr>
            </a:pPr>
            <a:r>
              <a:t>Parent (B) 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5440680"/>
            <a:ext cx="4389120" cy="384048"/>
          </a:xfrm>
          <a:prstGeom prst="roundRect">
            <a:avLst/>
          </a:prstGeom>
          <a:solidFill>
            <a:srgbClr val="0A261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4D399"/>
                </a:solidFill>
                <a:latin typeface="Consolas"/>
              </a:defRPr>
            </a:pPr>
            <a:r>
              <a:t>↑ Leaf Nodes (D, E, C: Nodes with zero children)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9440" y="1783080"/>
            <a:ext cx="4480560" cy="452628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23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132320" y="1965960"/>
            <a:ext cx="4114800" cy="1234440"/>
          </a:xfrm>
          <a:prstGeom prst="roundRect">
            <a:avLst/>
          </a:prstGeom>
          <a:solidFill>
            <a:srgbClr val="0E1420"/>
          </a:solidFill>
          <a:ln w="12700">
            <a:solidFill>
              <a:srgbClr val="1C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2057400"/>
            <a:ext cx="3840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DD3FC"/>
                </a:solidFill>
                <a:latin typeface="Segoe UI"/>
              </a:defRPr>
            </a:pPr>
            <a:r>
              <a:t>1. At Most Two Children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In a Binary Tree, each node has at most two child nodes, designated specifically as the 'left child' and 'right child'.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0" y="3337560"/>
            <a:ext cx="4114800" cy="1234440"/>
          </a:xfrm>
          <a:prstGeom prst="roundRect">
            <a:avLst/>
          </a:prstGeom>
          <a:solidFill>
            <a:srgbClr val="0E1420"/>
          </a:solidFill>
          <a:ln w="12700">
            <a:solidFill>
              <a:srgbClr val="1C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9480" y="3429000"/>
            <a:ext cx="3840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Segoe UI"/>
              </a:defRPr>
            </a:pPr>
            <a:r>
              <a:t>2. Recursive Subtree Principle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Every node in the tree is itself the root of its own smaller binary tree (left subtree and right subtree). Algorithms naturally leverage recursion.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0" y="4709160"/>
            <a:ext cx="4114800" cy="1234440"/>
          </a:xfrm>
          <a:prstGeom prst="roundRect">
            <a:avLst/>
          </a:prstGeom>
          <a:solidFill>
            <a:srgbClr val="0E1420"/>
          </a:solidFill>
          <a:ln w="12700">
            <a:solidFill>
              <a:srgbClr val="1C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9480" y="4800600"/>
            <a:ext cx="3840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Segoe UI"/>
              </a:defRPr>
            </a:pPr>
            <a:r>
              <a:t>3. Height &amp; Depth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Depth of a node is the number of edges from the root. Tree height (h) is the maximum depth across all nodes (here h = 3).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926080" cy="256032"/>
          </a:xfrm>
          <a:prstGeom prst="roundRect">
            <a:avLst/>
          </a:prstGeom>
          <a:solidFill>
            <a:srgbClr val="0E142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0B981"/>
                </a:solidFill>
                <a:latin typeface="Consolas"/>
              </a:defRPr>
            </a:pPr>
            <a:r>
              <a:t>FORMAL DEFINITION &amp;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Segoe UI"/>
              </a:defRPr>
            </a:pPr>
            <a:r>
              <a:t>What is Tree Traversal?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43584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Systematic exploration: visiting every node exactly once without omissions or loops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600200"/>
            <a:ext cx="10728655" cy="0"/>
          </a:xfrm>
          <a:prstGeom prst="line">
            <a:avLst/>
          </a:prstGeom>
          <a:ln w="12700">
            <a:solidFill>
              <a:srgbClr val="1C2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31520" y="1783080"/>
            <a:ext cx="10728655" cy="1051560"/>
          </a:xfrm>
          <a:prstGeom prst="roundRect">
            <a:avLst/>
          </a:prstGeom>
          <a:solidFill>
            <a:srgbClr val="131B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  <a:latin typeface="Consolas"/>
              </a:defRPr>
            </a:pPr>
            <a:r>
              <a:t>CORE DEFINITION</a:t>
            </a:r>
          </a:p>
          <a:p>
            <a:pPr>
              <a:defRPr sz="1350" b="1">
                <a:solidFill>
                  <a:srgbClr val="F8FAFC"/>
                </a:solidFill>
                <a:latin typeface="Segoe UI"/>
              </a:defRPr>
            </a:pPr>
            <a:r>
              <a:t>Tree Traversal is the systematic process of visiting (reading, modifying, or printing) every single node in a tree data structure exactly once, following a strict predefined order.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3337560" cy="2971800"/>
          </a:xfrm>
          <a:prstGeom prst="roundRect">
            <a:avLst/>
          </a:prstGeom>
          <a:solidFill>
            <a:srgbClr val="131B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" y="3200400"/>
            <a:ext cx="2880360" cy="347472"/>
          </a:xfrm>
          <a:prstGeom prst="roundRect">
            <a:avLst/>
          </a:prstGeom>
          <a:solidFill>
            <a:srgbClr val="0A261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  <a:latin typeface="Consolas"/>
              </a:defRPr>
            </a:pPr>
            <a:r>
              <a:t>INORDER (L - N - 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657600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Left → Root → Right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206240"/>
            <a:ext cx="2880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Processes the left subtree first, visits the current root node, then processes the right subtree.</a:t>
            </a:r>
            <a:br/>
            <a:br/>
            <a:r>
              <a:t>Key: Root is processed in the middle.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6552" y="3017520"/>
            <a:ext cx="3337560" cy="2971800"/>
          </a:xfrm>
          <a:prstGeom prst="roundRect">
            <a:avLst/>
          </a:prstGeom>
          <a:solidFill>
            <a:srgbClr val="131B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3200400"/>
            <a:ext cx="2880360" cy="347472"/>
          </a:xfrm>
          <a:prstGeom prst="roundRect">
            <a:avLst/>
          </a:prstGeom>
          <a:solidFill>
            <a:srgbClr val="0C233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PREORDER (N - L - 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3657600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Root → Left → Right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4206240"/>
            <a:ext cx="2880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Visits the current root node first, then recursively traverses the left subtree, followed by the right.</a:t>
            </a:r>
            <a:br/>
            <a:br/>
            <a:r>
              <a:t>Key: Root is processed first.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4" y="3017520"/>
            <a:ext cx="3337560" cy="2971800"/>
          </a:xfrm>
          <a:prstGeom prst="roundRect">
            <a:avLst/>
          </a:prstGeom>
          <a:solidFill>
            <a:srgbClr val="131B2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30184" y="3200400"/>
            <a:ext cx="2880360" cy="347472"/>
          </a:xfrm>
          <a:prstGeom prst="roundRect">
            <a:avLst/>
          </a:prstGeom>
          <a:solidFill>
            <a:srgbClr val="231232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A855F7"/>
                </a:solidFill>
                <a:latin typeface="Consolas"/>
              </a:defRPr>
            </a:pPr>
            <a:r>
              <a:t>POSTORDER (L - R - 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4" y="3657600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Left → Right → Root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4" y="4206240"/>
            <a:ext cx="2880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Recursively finishes the entire left subtree and right subtree before finally visiting the root node.</a:t>
            </a:r>
            <a:br/>
            <a:br/>
            <a:r>
              <a:t>Key: Root is processed last.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6126480"/>
            <a:ext cx="10728655" cy="384048"/>
          </a:xfrm>
          <a:prstGeom prst="roundRect">
            <a:avLst/>
          </a:prstGeom>
          <a:solidFill>
            <a:srgbClr val="0E1420"/>
          </a:solidFill>
          <a:ln>
            <a:solidFill>
              <a:srgbClr val="1C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59E0B"/>
                </a:solidFill>
                <a:latin typeface="Consolas"/>
              </a:defRPr>
            </a:pPr>
            <a:r>
              <a:t>UNIVERSAL DEPTH-FIRST RULE: In all three traversals, Left Subtree is visited before Right Subtree. The ONLY differentiator is when ROOT is visited.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926080" cy="256032"/>
          </a:xfrm>
          <a:prstGeom prst="roundRect">
            <a:avLst/>
          </a:prstGeom>
          <a:solidFill>
            <a:srgbClr val="0E142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0B981"/>
                </a:solidFill>
                <a:latin typeface="Consolas"/>
              </a:defRPr>
            </a:pPr>
            <a:r>
              <a:t>DEPTH-FIRST TRAVERSAL 1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Segoe UI"/>
              </a:defRPr>
            </a:pPr>
            <a:r>
              <a:t>Inorder Traversal: Left → Root → Right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43584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Recursively traverse the left branch, evaluate current node, then traverse right branch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600200"/>
            <a:ext cx="10728655" cy="0"/>
          </a:xfrm>
          <a:prstGeom prst="line">
            <a:avLst/>
          </a:prstGeom>
          <a:ln w="12700">
            <a:solidFill>
              <a:srgbClr val="1C2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31520" y="1783080"/>
            <a:ext cx="5303520" cy="4526280"/>
          </a:xfrm>
          <a:prstGeom prst="roundRect">
            <a:avLst/>
          </a:prstGeom>
          <a:solidFill>
            <a:srgbClr val="0E1420"/>
          </a:solidFill>
          <a:ln w="12700">
            <a:solidFill>
              <a:srgbClr val="23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Execution Order Badges (1 to 5)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025395" y="2606040"/>
            <a:ext cx="1357885" cy="844905"/>
          </a:xfrm>
          <a:prstGeom prst="line">
            <a:avLst/>
          </a:prstGeom>
          <a:ln w="279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383280" y="2606040"/>
            <a:ext cx="1357884" cy="844905"/>
          </a:xfrm>
          <a:prstGeom prst="line">
            <a:avLst/>
          </a:prstGeom>
          <a:ln w="279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321307" y="3450945"/>
            <a:ext cx="704088" cy="844906"/>
          </a:xfrm>
          <a:prstGeom prst="line">
            <a:avLst/>
          </a:prstGeom>
          <a:ln w="279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025395" y="3450945"/>
            <a:ext cx="704089" cy="844906"/>
          </a:xfrm>
          <a:prstGeom prst="line">
            <a:avLst/>
          </a:prstGeom>
          <a:ln w="279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090672" y="2313432"/>
            <a:ext cx="585216" cy="585216"/>
          </a:xfrm>
          <a:prstGeom prst="ellipse">
            <a:avLst/>
          </a:prstGeom>
          <a:solidFill>
            <a:srgbClr val="18202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45" b="1">
                <a:solidFill>
                  <a:srgbClr val="F8FAFC"/>
                </a:solidFill>
                <a:latin typeface="Segoe UI"/>
              </a:defRPr>
            </a:pPr>
            <a:r>
              <a:t>A</a:t>
            </a:r>
          </a:p>
        </p:txBody>
      </p:sp>
      <p:sp>
        <p:nvSpPr>
          <p:cNvPr id="14" name="Oval 13"/>
          <p:cNvSpPr/>
          <p:nvPr/>
        </p:nvSpPr>
        <p:spPr>
          <a:xfrm>
            <a:off x="3547140" y="2325136"/>
            <a:ext cx="264291" cy="264291"/>
          </a:xfrm>
          <a:prstGeom prst="ellipse">
            <a:avLst/>
          </a:prstGeom>
          <a:solidFill>
            <a:srgbClr val="10B981"/>
          </a:solidFill>
          <a:ln w="15240"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A0F14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15" name="Oval 14"/>
          <p:cNvSpPr/>
          <p:nvPr/>
        </p:nvSpPr>
        <p:spPr>
          <a:xfrm>
            <a:off x="1732787" y="3158337"/>
            <a:ext cx="585216" cy="585216"/>
          </a:xfrm>
          <a:prstGeom prst="ellipse">
            <a:avLst/>
          </a:prstGeom>
          <a:solidFill>
            <a:srgbClr val="18202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45" b="1">
                <a:solidFill>
                  <a:srgbClr val="F8FAFC"/>
                </a:solidFill>
                <a:latin typeface="Segoe UI"/>
              </a:defRPr>
            </a:pPr>
            <a:r>
              <a:t>B</a:t>
            </a:r>
          </a:p>
        </p:txBody>
      </p:sp>
      <p:sp>
        <p:nvSpPr>
          <p:cNvPr id="16" name="Oval 15"/>
          <p:cNvSpPr/>
          <p:nvPr/>
        </p:nvSpPr>
        <p:spPr>
          <a:xfrm>
            <a:off x="2189256" y="3170041"/>
            <a:ext cx="264291" cy="264291"/>
          </a:xfrm>
          <a:prstGeom prst="ellipse">
            <a:avLst/>
          </a:prstGeom>
          <a:solidFill>
            <a:srgbClr val="10B981"/>
          </a:solidFill>
          <a:ln w="15240"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A0F14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4448556" y="3158337"/>
            <a:ext cx="585216" cy="585216"/>
          </a:xfrm>
          <a:prstGeom prst="ellipse">
            <a:avLst/>
          </a:prstGeom>
          <a:solidFill>
            <a:srgbClr val="18202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45" b="1">
                <a:solidFill>
                  <a:srgbClr val="F8FAFC"/>
                </a:solidFill>
                <a:latin typeface="Segoe UI"/>
              </a:defRPr>
            </a:pPr>
            <a:r>
              <a:t>C</a:t>
            </a:r>
          </a:p>
        </p:txBody>
      </p:sp>
      <p:sp>
        <p:nvSpPr>
          <p:cNvPr id="18" name="Oval 17"/>
          <p:cNvSpPr/>
          <p:nvPr/>
        </p:nvSpPr>
        <p:spPr>
          <a:xfrm>
            <a:off x="4905024" y="3170041"/>
            <a:ext cx="264291" cy="264291"/>
          </a:xfrm>
          <a:prstGeom prst="ellipse">
            <a:avLst/>
          </a:prstGeom>
          <a:solidFill>
            <a:srgbClr val="10B981"/>
          </a:solidFill>
          <a:ln w="15240"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A0F14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19" name="Oval 18"/>
          <p:cNvSpPr/>
          <p:nvPr/>
        </p:nvSpPr>
        <p:spPr>
          <a:xfrm>
            <a:off x="1028699" y="4003243"/>
            <a:ext cx="585216" cy="585216"/>
          </a:xfrm>
          <a:prstGeom prst="ellipse">
            <a:avLst/>
          </a:prstGeom>
          <a:solidFill>
            <a:srgbClr val="18202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45" b="1">
                <a:solidFill>
                  <a:srgbClr val="F8FAFC"/>
                </a:solidFill>
                <a:latin typeface="Segoe UI"/>
              </a:defRPr>
            </a:pPr>
            <a:r>
              <a:t>D</a:t>
            </a:r>
          </a:p>
        </p:txBody>
      </p:sp>
      <p:sp>
        <p:nvSpPr>
          <p:cNvPr id="20" name="Oval 19"/>
          <p:cNvSpPr/>
          <p:nvPr/>
        </p:nvSpPr>
        <p:spPr>
          <a:xfrm>
            <a:off x="1485168" y="4014947"/>
            <a:ext cx="264291" cy="264291"/>
          </a:xfrm>
          <a:prstGeom prst="ellipse">
            <a:avLst/>
          </a:prstGeom>
          <a:solidFill>
            <a:srgbClr val="10B981"/>
          </a:solidFill>
          <a:ln w="15240"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A0F14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21" name="Oval 20"/>
          <p:cNvSpPr/>
          <p:nvPr/>
        </p:nvSpPr>
        <p:spPr>
          <a:xfrm>
            <a:off x="2436876" y="4003243"/>
            <a:ext cx="585216" cy="585216"/>
          </a:xfrm>
          <a:prstGeom prst="ellipse">
            <a:avLst/>
          </a:prstGeom>
          <a:solidFill>
            <a:srgbClr val="18202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45" b="1">
                <a:solidFill>
                  <a:srgbClr val="F8FAFC"/>
                </a:solidFill>
                <a:latin typeface="Segoe UI"/>
              </a:defRPr>
            </a:pPr>
            <a:r>
              <a:t>E</a:t>
            </a:r>
          </a:p>
        </p:txBody>
      </p:sp>
      <p:sp>
        <p:nvSpPr>
          <p:cNvPr id="22" name="Oval 21"/>
          <p:cNvSpPr/>
          <p:nvPr/>
        </p:nvSpPr>
        <p:spPr>
          <a:xfrm>
            <a:off x="2893344" y="4014947"/>
            <a:ext cx="264291" cy="264291"/>
          </a:xfrm>
          <a:prstGeom prst="ellipse">
            <a:avLst/>
          </a:prstGeom>
          <a:solidFill>
            <a:srgbClr val="10B981"/>
          </a:solidFill>
          <a:ln w="15240"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A0F14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5349240"/>
            <a:ext cx="530352" cy="411480"/>
          </a:xfrm>
          <a:prstGeom prst="roundRect">
            <a:avLst/>
          </a:prstGeom>
          <a:solidFill>
            <a:srgbClr val="0E142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  <a:latin typeface="Segoe UI"/>
              </a:defRPr>
            </a:pPr>
            <a: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73352" y="5349240"/>
            <a:ext cx="3200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93392" y="5349240"/>
            <a:ext cx="530352" cy="411480"/>
          </a:xfrm>
          <a:prstGeom prst="roundRect">
            <a:avLst/>
          </a:prstGeom>
          <a:solidFill>
            <a:srgbClr val="0E142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  <a:latin typeface="Segoe UI"/>
              </a:defRPr>
            </a:pPr>
            <a:r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23744" y="5349240"/>
            <a:ext cx="3200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43784" y="5349240"/>
            <a:ext cx="530352" cy="411480"/>
          </a:xfrm>
          <a:prstGeom prst="roundRect">
            <a:avLst/>
          </a:prstGeom>
          <a:solidFill>
            <a:srgbClr val="0E142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  <a:latin typeface="Segoe UI"/>
              </a:defRPr>
            </a:pPr>
            <a:r>
              <a:t>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74136" y="5349240"/>
            <a:ext cx="3200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94176" y="5349240"/>
            <a:ext cx="530352" cy="411480"/>
          </a:xfrm>
          <a:prstGeom prst="roundRect">
            <a:avLst/>
          </a:prstGeom>
          <a:solidFill>
            <a:srgbClr val="0E142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  <a:latin typeface="Segoe UI"/>
              </a:defRPr>
            </a:pPr>
            <a:r>
              <a:t>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24528" y="5349240"/>
            <a:ext cx="3200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44568" y="5349240"/>
            <a:ext cx="530352" cy="411480"/>
          </a:xfrm>
          <a:prstGeom prst="roundRect">
            <a:avLst/>
          </a:prstGeom>
          <a:solidFill>
            <a:srgbClr val="0E142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  <a:latin typeface="Segoe UI"/>
              </a:defRPr>
            </a:pPr>
            <a:r>
              <a:t>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1783080"/>
            <a:ext cx="5120640" cy="452628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23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192024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Step-by-Step Chronological Trace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0" y="2377440"/>
            <a:ext cx="4754880" cy="594360"/>
          </a:xfrm>
          <a:prstGeom prst="roundRect">
            <a:avLst/>
          </a:prstGeom>
          <a:solidFill>
            <a:srgbClr val="0E1420"/>
          </a:solidFill>
          <a:ln w="12700">
            <a:solidFill>
              <a:srgbClr val="1C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24231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4D399"/>
                </a:solidFill>
                <a:latin typeface="Consolas"/>
              </a:defRPr>
            </a:pPr>
            <a:r>
              <a:t>Step 1: Node D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Descend left from A → B → D. D has no left child, so VISIT(D).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92240" y="3054096"/>
            <a:ext cx="4754880" cy="594360"/>
          </a:xfrm>
          <a:prstGeom prst="roundRect">
            <a:avLst/>
          </a:prstGeom>
          <a:solidFill>
            <a:srgbClr val="0E1420"/>
          </a:solidFill>
          <a:ln w="12700">
            <a:solidFill>
              <a:srgbClr val="1C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3099815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8FAFC"/>
                </a:solidFill>
                <a:latin typeface="Consolas"/>
              </a:defRPr>
            </a:pPr>
            <a:r>
              <a:t>Step 2: Node B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Backtrack from left child D to parent B. VISIT(B).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92240" y="3730752"/>
            <a:ext cx="4754880" cy="594360"/>
          </a:xfrm>
          <a:prstGeom prst="roundRect">
            <a:avLst/>
          </a:prstGeom>
          <a:solidFill>
            <a:srgbClr val="0E1420"/>
          </a:solidFill>
          <a:ln w="12700">
            <a:solidFill>
              <a:srgbClr val="1C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377647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8FAFC"/>
                </a:solidFill>
                <a:latin typeface="Consolas"/>
              </a:defRPr>
            </a:pPr>
            <a:r>
              <a:t>Step 3: Node E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Explore right child of B. E is a leaf, so VISIT(E). Left subtree of A complete!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92240" y="4407408"/>
            <a:ext cx="4754880" cy="594360"/>
          </a:xfrm>
          <a:prstGeom prst="roundRect">
            <a:avLst/>
          </a:prstGeom>
          <a:solidFill>
            <a:srgbClr val="0E1420"/>
          </a:solidFill>
          <a:ln w="12700">
            <a:solidFill>
              <a:srgbClr val="1C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445312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59E0B"/>
                </a:solidFill>
                <a:latin typeface="Consolas"/>
              </a:defRPr>
            </a:pPr>
            <a:r>
              <a:t>Step 4: Node A (Root)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Entire left branch (D, B, E) finished! Backtrack to root A. VISIT(A).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92240" y="5084064"/>
            <a:ext cx="4754880" cy="594360"/>
          </a:xfrm>
          <a:prstGeom prst="roundRect">
            <a:avLst/>
          </a:prstGeom>
          <a:solidFill>
            <a:srgbClr val="0E1420"/>
          </a:solidFill>
          <a:ln w="12700">
            <a:solidFill>
              <a:srgbClr val="1C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0" y="5129784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8FAFC"/>
                </a:solidFill>
                <a:latin typeface="Consolas"/>
              </a:defRPr>
            </a:pPr>
            <a:r>
              <a:t>Step 5: Node C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Explore right branch of A. Move to node C. VISIT(C). Traversal complete!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92240" y="5806440"/>
            <a:ext cx="4754880" cy="384048"/>
          </a:xfrm>
          <a:prstGeom prst="roundRect">
            <a:avLst/>
          </a:prstGeom>
          <a:solidFill>
            <a:srgbClr val="0A261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4D399"/>
                </a:solidFill>
                <a:latin typeface="Consolas"/>
              </a:defRPr>
            </a:pPr>
            <a:r>
              <a:t>CORE PROPERTY: Root A is processed in the middle (4th of 5 nodes).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926080" cy="256032"/>
          </a:xfrm>
          <a:prstGeom prst="roundRect">
            <a:avLst/>
          </a:prstGeom>
          <a:solidFill>
            <a:srgbClr val="0E142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0B981"/>
                </a:solidFill>
                <a:latin typeface="Consolas"/>
              </a:defRPr>
            </a:pPr>
            <a:r>
              <a:t>ALGORITHM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Segoe UI"/>
              </a:defRPr>
            </a:pPr>
            <a:r>
              <a:t>Inorder Recursive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43584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Recursive call structure, base condition, and sorted BST property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600200"/>
            <a:ext cx="10728655" cy="0"/>
          </a:xfrm>
          <a:prstGeom prst="line">
            <a:avLst/>
          </a:prstGeom>
          <a:ln w="12700">
            <a:solidFill>
              <a:srgbClr val="1C2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31520" y="1783080"/>
            <a:ext cx="5120640" cy="4526280"/>
          </a:xfrm>
          <a:prstGeom prst="roundRect">
            <a:avLst/>
          </a:prstGeom>
          <a:solidFill>
            <a:srgbClr val="0E1420"/>
          </a:solidFill>
          <a:ln w="19050">
            <a:solidFill>
              <a:srgbClr val="23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92807"/>
            <a:ext cx="47548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4D399"/>
                </a:solidFill>
                <a:latin typeface="Consolas"/>
              </a:defRPr>
            </a:pPr>
            <a:r>
              <a:t>// INORDER RECURSIVE PSEUDOCODE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4754879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defRPr sz="1100" b="1">
                <a:solidFill>
                  <a:srgbClr val="7DD3FC"/>
                </a:solidFill>
                <a:latin typeface="Consolas"/>
              </a:defRPr>
            </a:pPr>
            <a:r>
              <a:t>function INORDER(node):</a:t>
            </a:r>
          </a:p>
          <a:p>
            <a:pPr>
              <a:lnSpc>
                <a:spcPct val="125000"/>
              </a:lnSpc>
              <a:defRPr sz="1100" b="1">
                <a:solidFill>
                  <a:srgbClr val="7DD3FC"/>
                </a:solidFill>
                <a:latin typeface="Consolas"/>
              </a:defRPr>
            </a:pPr>
            <a:r>
              <a:t>    if node == NULL:        // Base Case</a:t>
            </a:r>
          </a:p>
          <a:p>
            <a:pPr>
              <a:lnSpc>
                <a:spcPct val="125000"/>
              </a:lnSpc>
              <a:defRPr sz="1100" b="1">
                <a:solidFill>
                  <a:srgbClr val="7DD3FC"/>
                </a:solidFill>
                <a:latin typeface="Consolas"/>
              </a:defRPr>
            </a:pPr>
            <a:r>
              <a:t>        return</a:t>
            </a:r>
          </a:p>
          <a:p>
            <a:pPr>
              <a:lnSpc>
                <a:spcPct val="125000"/>
              </a:lnSpc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>
              <a:lnSpc>
                <a:spcPct val="125000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  INORDER(node.left)      // 1. Recurse Left Subtree</a:t>
            </a:r>
          </a:p>
          <a:p>
            <a:pPr>
              <a:lnSpc>
                <a:spcPct val="125000"/>
              </a:lnSpc>
              <a:defRPr sz="1100" b="1">
                <a:solidFill>
                  <a:srgbClr val="34D399"/>
                </a:solidFill>
                <a:latin typeface="Consolas"/>
              </a:defRPr>
            </a:pPr>
            <a:r>
              <a:t>    VISIT(node)             // 2. Process Current Node</a:t>
            </a:r>
          </a:p>
          <a:p>
            <a:pPr>
              <a:lnSpc>
                <a:spcPct val="125000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  INORDER(node.right)     // 3. Recurse Right Subtree</a:t>
            </a:r>
          </a:p>
          <a:p>
            <a:pPr>
              <a:lnSpc>
                <a:spcPct val="125000"/>
              </a:lnSpc>
              <a:defRPr sz="1100" b="1">
                <a:solidFill>
                  <a:srgbClr val="7DD3FC"/>
                </a:solidFill>
                <a:latin typeface="Consolas"/>
              </a:defRPr>
            </a:pPr>
            <a:r>
              <a:t>    return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783080"/>
            <a:ext cx="5303520" cy="452628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23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9202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Execution Flow &amp; Unique Properties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377440"/>
            <a:ext cx="4937760" cy="658368"/>
          </a:xfrm>
          <a:prstGeom prst="roundRect">
            <a:avLst/>
          </a:prstGeom>
          <a:solidFill>
            <a:srgbClr val="0E1420"/>
          </a:solidFill>
          <a:ln w="12700">
            <a:solidFill>
              <a:srgbClr val="1C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423160"/>
            <a:ext cx="4663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4D399"/>
                </a:solidFill>
                <a:latin typeface="Consolas"/>
              </a:defRPr>
            </a:pPr>
            <a:r>
              <a:t>1. Left Recursion First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The function dives down node.left continuously until it hits NULL. Execution at parent frames pauses on the call stack.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145536"/>
            <a:ext cx="4937760" cy="658368"/>
          </a:xfrm>
          <a:prstGeom prst="roundRect">
            <a:avLst/>
          </a:prstGeom>
          <a:solidFill>
            <a:srgbClr val="0E1420"/>
          </a:solidFill>
          <a:ln w="12700">
            <a:solidFill>
              <a:srgbClr val="1C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191256"/>
            <a:ext cx="4663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4D399"/>
                </a:solidFill>
                <a:latin typeface="Consolas"/>
              </a:defRPr>
            </a:pPr>
            <a:r>
              <a:t>2. Visit Upon Backtracking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When the left child returns, VISIT(node) executes. This is where output is printed, stored, or modified.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913632"/>
            <a:ext cx="4937760" cy="658368"/>
          </a:xfrm>
          <a:prstGeom prst="roundRect">
            <a:avLst/>
          </a:prstGeom>
          <a:solidFill>
            <a:srgbClr val="0E1420"/>
          </a:solidFill>
          <a:ln w="12700">
            <a:solidFill>
              <a:srgbClr val="1C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959352"/>
            <a:ext cx="4663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4D399"/>
                </a:solidFill>
                <a:latin typeface="Consolas"/>
              </a:defRPr>
            </a:pPr>
            <a:r>
              <a:t>3. Right Recursion After Visit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Only after the node itself is processed does the algorithm branch down node.right.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4709160"/>
            <a:ext cx="4937760" cy="1463040"/>
          </a:xfrm>
          <a:prstGeom prst="roundRect">
            <a:avLst/>
          </a:prstGeom>
          <a:solidFill>
            <a:srgbClr val="0A261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480060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4D399"/>
                </a:solidFill>
                <a:latin typeface="Consolas"/>
              </a:defRPr>
            </a:pPr>
            <a:r>
              <a:t>BST SUPERPOWER: SORTED ORDER</a:t>
            </a:r>
          </a:p>
          <a:p>
            <a:pPr>
              <a:defRPr sz="1050">
                <a:solidFill>
                  <a:srgbClr val="F8FAFC"/>
                </a:solidFill>
                <a:latin typeface="Segoe UI"/>
              </a:defRPr>
            </a:pPr>
            <a:r>
              <a:t>In a Binary Search Tree (BST), where Left &lt; Root &lt; Right, Inorder traversal guarantees visiting keys in strictly non-decreasing (sorted) order in O(n) time, eliminating the need for an external sort algorithm!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926080" cy="256032"/>
          </a:xfrm>
          <a:prstGeom prst="roundRect">
            <a:avLst/>
          </a:prstGeom>
          <a:solidFill>
            <a:srgbClr val="0E142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38BDF8"/>
                </a:solidFill>
                <a:latin typeface="Consolas"/>
              </a:defRPr>
            </a:pPr>
            <a:r>
              <a:t>DEPTH-FIRST TRAVERSAL 2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Segoe UI"/>
              </a:defRPr>
            </a:pPr>
            <a:r>
              <a:t>Preorder Traversal: Root → Left → Right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43584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Visit the current root node first before descending down into child subtrees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600200"/>
            <a:ext cx="10728655" cy="0"/>
          </a:xfrm>
          <a:prstGeom prst="line">
            <a:avLst/>
          </a:prstGeom>
          <a:ln w="12700">
            <a:solidFill>
              <a:srgbClr val="1C2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31520" y="1783080"/>
            <a:ext cx="5303520" cy="4526280"/>
          </a:xfrm>
          <a:prstGeom prst="roundRect">
            <a:avLst/>
          </a:prstGeom>
          <a:solidFill>
            <a:srgbClr val="0E1420"/>
          </a:solidFill>
          <a:ln w="12700">
            <a:solidFill>
              <a:srgbClr val="23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Execution Order Badges (1 to 5)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025395" y="2606040"/>
            <a:ext cx="1357885" cy="844905"/>
          </a:xfrm>
          <a:prstGeom prst="line">
            <a:avLst/>
          </a:prstGeom>
          <a:ln w="279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383280" y="2606040"/>
            <a:ext cx="1357884" cy="844905"/>
          </a:xfrm>
          <a:prstGeom prst="line">
            <a:avLst/>
          </a:prstGeom>
          <a:ln w="279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321307" y="3450945"/>
            <a:ext cx="704088" cy="844906"/>
          </a:xfrm>
          <a:prstGeom prst="line">
            <a:avLst/>
          </a:prstGeom>
          <a:ln w="279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025395" y="3450945"/>
            <a:ext cx="704089" cy="844906"/>
          </a:xfrm>
          <a:prstGeom prst="line">
            <a:avLst/>
          </a:prstGeom>
          <a:ln w="279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090672" y="2313432"/>
            <a:ext cx="585216" cy="585216"/>
          </a:xfrm>
          <a:prstGeom prst="ellipse">
            <a:avLst/>
          </a:prstGeom>
          <a:solidFill>
            <a:srgbClr val="18202F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45" b="1">
                <a:solidFill>
                  <a:srgbClr val="F8FAFC"/>
                </a:solidFill>
                <a:latin typeface="Segoe UI"/>
              </a:defRPr>
            </a:pPr>
            <a:r>
              <a:t>A</a:t>
            </a:r>
          </a:p>
        </p:txBody>
      </p:sp>
      <p:sp>
        <p:nvSpPr>
          <p:cNvPr id="14" name="Oval 13"/>
          <p:cNvSpPr/>
          <p:nvPr/>
        </p:nvSpPr>
        <p:spPr>
          <a:xfrm>
            <a:off x="3547140" y="2325136"/>
            <a:ext cx="264291" cy="264291"/>
          </a:xfrm>
          <a:prstGeom prst="ellipse">
            <a:avLst/>
          </a:prstGeom>
          <a:solidFill>
            <a:srgbClr val="38BDF8"/>
          </a:solidFill>
          <a:ln w="15240"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A0F14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732787" y="3158337"/>
            <a:ext cx="585216" cy="585216"/>
          </a:xfrm>
          <a:prstGeom prst="ellipse">
            <a:avLst/>
          </a:prstGeom>
          <a:solidFill>
            <a:srgbClr val="18202F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45" b="1">
                <a:solidFill>
                  <a:srgbClr val="F8FAFC"/>
                </a:solidFill>
                <a:latin typeface="Segoe UI"/>
              </a:defRPr>
            </a:pPr>
            <a:r>
              <a:t>B</a:t>
            </a:r>
          </a:p>
        </p:txBody>
      </p:sp>
      <p:sp>
        <p:nvSpPr>
          <p:cNvPr id="16" name="Oval 15"/>
          <p:cNvSpPr/>
          <p:nvPr/>
        </p:nvSpPr>
        <p:spPr>
          <a:xfrm>
            <a:off x="2189256" y="3170041"/>
            <a:ext cx="264291" cy="264291"/>
          </a:xfrm>
          <a:prstGeom prst="ellipse">
            <a:avLst/>
          </a:prstGeom>
          <a:solidFill>
            <a:srgbClr val="38BDF8"/>
          </a:solidFill>
          <a:ln w="15240"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A0F14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4448556" y="3158337"/>
            <a:ext cx="585216" cy="585216"/>
          </a:xfrm>
          <a:prstGeom prst="ellipse">
            <a:avLst/>
          </a:prstGeom>
          <a:solidFill>
            <a:srgbClr val="18202F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45" b="1">
                <a:solidFill>
                  <a:srgbClr val="F8FAFC"/>
                </a:solidFill>
                <a:latin typeface="Segoe UI"/>
              </a:defRPr>
            </a:pPr>
            <a:r>
              <a:t>C</a:t>
            </a:r>
          </a:p>
        </p:txBody>
      </p:sp>
      <p:sp>
        <p:nvSpPr>
          <p:cNvPr id="18" name="Oval 17"/>
          <p:cNvSpPr/>
          <p:nvPr/>
        </p:nvSpPr>
        <p:spPr>
          <a:xfrm>
            <a:off x="4905024" y="3170041"/>
            <a:ext cx="264291" cy="264291"/>
          </a:xfrm>
          <a:prstGeom prst="ellipse">
            <a:avLst/>
          </a:prstGeom>
          <a:solidFill>
            <a:srgbClr val="38BDF8"/>
          </a:solidFill>
          <a:ln w="15240"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A0F14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19" name="Oval 18"/>
          <p:cNvSpPr/>
          <p:nvPr/>
        </p:nvSpPr>
        <p:spPr>
          <a:xfrm>
            <a:off x="1028699" y="4003243"/>
            <a:ext cx="585216" cy="585216"/>
          </a:xfrm>
          <a:prstGeom prst="ellipse">
            <a:avLst/>
          </a:prstGeom>
          <a:solidFill>
            <a:srgbClr val="18202F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45" b="1">
                <a:solidFill>
                  <a:srgbClr val="F8FAFC"/>
                </a:solidFill>
                <a:latin typeface="Segoe UI"/>
              </a:defRPr>
            </a:pPr>
            <a:r>
              <a:t>D</a:t>
            </a:r>
          </a:p>
        </p:txBody>
      </p:sp>
      <p:sp>
        <p:nvSpPr>
          <p:cNvPr id="20" name="Oval 19"/>
          <p:cNvSpPr/>
          <p:nvPr/>
        </p:nvSpPr>
        <p:spPr>
          <a:xfrm>
            <a:off x="1485168" y="4014947"/>
            <a:ext cx="264291" cy="264291"/>
          </a:xfrm>
          <a:prstGeom prst="ellipse">
            <a:avLst/>
          </a:prstGeom>
          <a:solidFill>
            <a:srgbClr val="38BDF8"/>
          </a:solidFill>
          <a:ln w="15240"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A0F14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21" name="Oval 20"/>
          <p:cNvSpPr/>
          <p:nvPr/>
        </p:nvSpPr>
        <p:spPr>
          <a:xfrm>
            <a:off x="2436876" y="4003243"/>
            <a:ext cx="585216" cy="585216"/>
          </a:xfrm>
          <a:prstGeom prst="ellipse">
            <a:avLst/>
          </a:prstGeom>
          <a:solidFill>
            <a:srgbClr val="18202F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45" b="1">
                <a:solidFill>
                  <a:srgbClr val="F8FAFC"/>
                </a:solidFill>
                <a:latin typeface="Segoe UI"/>
              </a:defRPr>
            </a:pPr>
            <a:r>
              <a:t>E</a:t>
            </a:r>
          </a:p>
        </p:txBody>
      </p:sp>
      <p:sp>
        <p:nvSpPr>
          <p:cNvPr id="22" name="Oval 21"/>
          <p:cNvSpPr/>
          <p:nvPr/>
        </p:nvSpPr>
        <p:spPr>
          <a:xfrm>
            <a:off x="2893344" y="4014947"/>
            <a:ext cx="264291" cy="264291"/>
          </a:xfrm>
          <a:prstGeom prst="ellipse">
            <a:avLst/>
          </a:prstGeom>
          <a:solidFill>
            <a:srgbClr val="38BDF8"/>
          </a:solidFill>
          <a:ln w="15240"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A0F14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5349240"/>
            <a:ext cx="530352" cy="411480"/>
          </a:xfrm>
          <a:prstGeom prst="roundRect">
            <a:avLst/>
          </a:prstGeom>
          <a:solidFill>
            <a:srgbClr val="0E142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  <a:latin typeface="Segoe UI"/>
              </a:defRPr>
            </a:pPr>
            <a: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73352" y="5349240"/>
            <a:ext cx="3200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93392" y="5349240"/>
            <a:ext cx="530352" cy="411480"/>
          </a:xfrm>
          <a:prstGeom prst="roundRect">
            <a:avLst/>
          </a:prstGeom>
          <a:solidFill>
            <a:srgbClr val="0E142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  <a:latin typeface="Segoe UI"/>
              </a:defRPr>
            </a:pPr>
            <a:r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23744" y="5349240"/>
            <a:ext cx="3200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43784" y="5349240"/>
            <a:ext cx="530352" cy="411480"/>
          </a:xfrm>
          <a:prstGeom prst="roundRect">
            <a:avLst/>
          </a:prstGeom>
          <a:solidFill>
            <a:srgbClr val="0E142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  <a:latin typeface="Segoe UI"/>
              </a:defRPr>
            </a:pPr>
            <a: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74136" y="5349240"/>
            <a:ext cx="3200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94176" y="5349240"/>
            <a:ext cx="530352" cy="411480"/>
          </a:xfrm>
          <a:prstGeom prst="roundRect">
            <a:avLst/>
          </a:prstGeom>
          <a:solidFill>
            <a:srgbClr val="0E142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  <a:latin typeface="Segoe UI"/>
              </a:defRPr>
            </a:pPr>
            <a:r>
              <a:t>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24528" y="5349240"/>
            <a:ext cx="3200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44568" y="5349240"/>
            <a:ext cx="530352" cy="411480"/>
          </a:xfrm>
          <a:prstGeom prst="roundRect">
            <a:avLst/>
          </a:prstGeom>
          <a:solidFill>
            <a:srgbClr val="0E142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  <a:latin typeface="Segoe UI"/>
              </a:defRPr>
            </a:pPr>
            <a:r>
              <a:t>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1783080"/>
            <a:ext cx="5120640" cy="452628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23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192024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Step-by-Step Chronological Trace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0" y="2377440"/>
            <a:ext cx="4754880" cy="594360"/>
          </a:xfrm>
          <a:prstGeom prst="roundRect">
            <a:avLst/>
          </a:prstGeom>
          <a:solidFill>
            <a:srgbClr val="0E1420"/>
          </a:solidFill>
          <a:ln w="12700">
            <a:solidFill>
              <a:srgbClr val="1C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24231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7DD3FC"/>
                </a:solidFill>
                <a:latin typeface="Consolas"/>
              </a:defRPr>
            </a:pPr>
            <a:r>
              <a:t>Step 1: Node A (Root)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Immediately VISIT(A) before exploring any subtrees!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92240" y="3054096"/>
            <a:ext cx="4754880" cy="594360"/>
          </a:xfrm>
          <a:prstGeom prst="roundRect">
            <a:avLst/>
          </a:prstGeom>
          <a:solidFill>
            <a:srgbClr val="0E1420"/>
          </a:solidFill>
          <a:ln w="12700">
            <a:solidFill>
              <a:srgbClr val="1C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3099815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8FAFC"/>
                </a:solidFill>
                <a:latin typeface="Consolas"/>
              </a:defRPr>
            </a:pPr>
            <a:r>
              <a:t>Step 2: Node B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Descend left from A to B. Immediately VISIT(B) as subtree root.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92240" y="3730752"/>
            <a:ext cx="4754880" cy="594360"/>
          </a:xfrm>
          <a:prstGeom prst="roundRect">
            <a:avLst/>
          </a:prstGeom>
          <a:solidFill>
            <a:srgbClr val="0E1420"/>
          </a:solidFill>
          <a:ln w="12700">
            <a:solidFill>
              <a:srgbClr val="1C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377647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8FAFC"/>
                </a:solidFill>
                <a:latin typeface="Consolas"/>
              </a:defRPr>
            </a:pPr>
            <a:r>
              <a:t>Step 3: Node D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Descend left from B to D. Immediately VISIT(D). D is leaf (returns).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92240" y="4407408"/>
            <a:ext cx="4754880" cy="594360"/>
          </a:xfrm>
          <a:prstGeom prst="roundRect">
            <a:avLst/>
          </a:prstGeom>
          <a:solidFill>
            <a:srgbClr val="0E1420"/>
          </a:solidFill>
          <a:ln w="12700">
            <a:solidFill>
              <a:srgbClr val="1C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445312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8FAFC"/>
                </a:solidFill>
                <a:latin typeface="Consolas"/>
              </a:defRPr>
            </a:pPr>
            <a:r>
              <a:t>Step 4: Node E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Move to right child of B. Immediately VISIT(E). Entire B branch complete!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92240" y="5084064"/>
            <a:ext cx="4754880" cy="594360"/>
          </a:xfrm>
          <a:prstGeom prst="roundRect">
            <a:avLst/>
          </a:prstGeom>
          <a:solidFill>
            <a:srgbClr val="0E1420"/>
          </a:solidFill>
          <a:ln w="12700">
            <a:solidFill>
              <a:srgbClr val="1C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0" y="5129784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8FAFC"/>
                </a:solidFill>
                <a:latin typeface="Consolas"/>
              </a:defRPr>
            </a:pPr>
            <a:r>
              <a:t>Step 5: Node C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Backtrack up to A and move to right child. Immediately VISIT(C). Complete!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92240" y="5806440"/>
            <a:ext cx="4754880" cy="384048"/>
          </a:xfrm>
          <a:prstGeom prst="roundRect">
            <a:avLst/>
          </a:prstGeom>
          <a:solidFill>
            <a:srgbClr val="0C233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7DD3FC"/>
                </a:solidFill>
                <a:latin typeface="Consolas"/>
              </a:defRPr>
            </a:pPr>
            <a:r>
              <a:t>CORE PROPERTY: Root A is processed first (1st of 5 nodes).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926080" cy="256032"/>
          </a:xfrm>
          <a:prstGeom prst="roundRect">
            <a:avLst/>
          </a:prstGeom>
          <a:solidFill>
            <a:srgbClr val="0E142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38BDF8"/>
                </a:solidFill>
                <a:latin typeface="Consolas"/>
              </a:defRPr>
            </a:pPr>
            <a:r>
              <a:t>ALGORITHM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Segoe UI"/>
              </a:defRPr>
            </a:pPr>
            <a:r>
              <a:t>Preorder Recursive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43584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Top-down inspection, hierarchical preservation, and structure serialization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600200"/>
            <a:ext cx="10728655" cy="0"/>
          </a:xfrm>
          <a:prstGeom prst="line">
            <a:avLst/>
          </a:prstGeom>
          <a:ln w="12700">
            <a:solidFill>
              <a:srgbClr val="1C2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31520" y="1783080"/>
            <a:ext cx="5120640" cy="4526280"/>
          </a:xfrm>
          <a:prstGeom prst="roundRect">
            <a:avLst/>
          </a:prstGeom>
          <a:solidFill>
            <a:srgbClr val="0E1420"/>
          </a:solidFill>
          <a:ln w="19050">
            <a:solidFill>
              <a:srgbClr val="23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92807"/>
            <a:ext cx="47548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4D399"/>
                </a:solidFill>
                <a:latin typeface="Consolas"/>
              </a:defRPr>
            </a:pPr>
            <a:r>
              <a:t>// PREORDER RECURSIVE PSEUDOCODE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4754879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defRPr sz="1100" b="1">
                <a:solidFill>
                  <a:srgbClr val="7DD3FC"/>
                </a:solidFill>
                <a:latin typeface="Consolas"/>
              </a:defRPr>
            </a:pPr>
            <a:r>
              <a:t>function PREORDER(node):</a:t>
            </a:r>
          </a:p>
          <a:p>
            <a:pPr>
              <a:lnSpc>
                <a:spcPct val="125000"/>
              </a:lnSpc>
              <a:defRPr sz="1100" b="1">
                <a:solidFill>
                  <a:srgbClr val="7DD3FC"/>
                </a:solidFill>
                <a:latin typeface="Consolas"/>
              </a:defRPr>
            </a:pPr>
            <a:r>
              <a:t>    if node == NULL:        // Base Case</a:t>
            </a:r>
          </a:p>
          <a:p>
            <a:pPr>
              <a:lnSpc>
                <a:spcPct val="125000"/>
              </a:lnSpc>
              <a:defRPr sz="1100" b="1">
                <a:solidFill>
                  <a:srgbClr val="7DD3FC"/>
                </a:solidFill>
                <a:latin typeface="Consolas"/>
              </a:defRPr>
            </a:pPr>
            <a:r>
              <a:t>        return</a:t>
            </a:r>
          </a:p>
          <a:p>
            <a:pPr>
              <a:lnSpc>
                <a:spcPct val="125000"/>
              </a:lnSpc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>
              <a:lnSpc>
                <a:spcPct val="125000"/>
              </a:lnSpc>
              <a:defRPr sz="1100" b="1">
                <a:solidFill>
                  <a:srgbClr val="34D399"/>
                </a:solidFill>
                <a:latin typeface="Consolas"/>
              </a:defRPr>
            </a:pPr>
            <a:r>
              <a:t>    VISIT(node)             // 1. Process Current Node First</a:t>
            </a:r>
          </a:p>
          <a:p>
            <a:pPr>
              <a:lnSpc>
                <a:spcPct val="125000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  PREORDER(node.left)     // 2. Recurse Left Subtree</a:t>
            </a:r>
          </a:p>
          <a:p>
            <a:pPr>
              <a:lnSpc>
                <a:spcPct val="125000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  PREORDER(node.right)    // 3. Recurse Right Subtree</a:t>
            </a:r>
          </a:p>
          <a:p>
            <a:pPr>
              <a:lnSpc>
                <a:spcPct val="125000"/>
              </a:lnSpc>
              <a:defRPr sz="1100" b="1">
                <a:solidFill>
                  <a:srgbClr val="7DD3FC"/>
                </a:solidFill>
                <a:latin typeface="Consolas"/>
              </a:defRPr>
            </a:pPr>
            <a:r>
              <a:t>    return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783080"/>
            <a:ext cx="5303520" cy="452628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23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9202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Execution Flow &amp; Practical Strengths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377440"/>
            <a:ext cx="4937760" cy="658368"/>
          </a:xfrm>
          <a:prstGeom prst="roundRect">
            <a:avLst/>
          </a:prstGeom>
          <a:solidFill>
            <a:srgbClr val="0E1420"/>
          </a:solidFill>
          <a:ln w="12700">
            <a:solidFill>
              <a:srgbClr val="1C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423160"/>
            <a:ext cx="4663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7DD3FC"/>
                </a:solidFill>
                <a:latin typeface="Consolas"/>
              </a:defRPr>
            </a:pPr>
            <a:r>
              <a:t>1. Visit Happens First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Unlike Inorder, the current node is visited before any recursive calls are initiated. It models top-down parent-first traversal.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145536"/>
            <a:ext cx="4937760" cy="658368"/>
          </a:xfrm>
          <a:prstGeom prst="roundRect">
            <a:avLst/>
          </a:prstGeom>
          <a:solidFill>
            <a:srgbClr val="0E1420"/>
          </a:solidFill>
          <a:ln w="12700">
            <a:solidFill>
              <a:srgbClr val="1C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191256"/>
            <a:ext cx="4663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7DD3FC"/>
                </a:solidFill>
                <a:latin typeface="Consolas"/>
              </a:defRPr>
            </a:pPr>
            <a:r>
              <a:t>2. Depth-First Left Descent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After visiting the node, the call stack dives down the left subtree to completion.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913632"/>
            <a:ext cx="4937760" cy="658368"/>
          </a:xfrm>
          <a:prstGeom prst="roundRect">
            <a:avLst/>
          </a:prstGeom>
          <a:solidFill>
            <a:srgbClr val="0E1420"/>
          </a:solidFill>
          <a:ln w="12700">
            <a:solidFill>
              <a:srgbClr val="1C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959352"/>
            <a:ext cx="4663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7DD3FC"/>
                </a:solidFill>
                <a:latin typeface="Consolas"/>
              </a:defRPr>
            </a:pPr>
            <a:r>
              <a:t>3. Depth-First Right Descent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Finally, right branches are processed after left siblings finish.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4709160"/>
            <a:ext cx="4937760" cy="1463040"/>
          </a:xfrm>
          <a:prstGeom prst="roundRect">
            <a:avLst/>
          </a:prstGeom>
          <a:solidFill>
            <a:srgbClr val="0C233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480060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7DD3FC"/>
                </a:solidFill>
                <a:latin typeface="Consolas"/>
              </a:defRPr>
            </a:pPr>
            <a:r>
              <a:t>PRIMARY USE: TREE CLONING &amp; SERIALIZATION</a:t>
            </a:r>
          </a:p>
          <a:p>
            <a:pPr>
              <a:defRPr sz="1050">
                <a:solidFill>
                  <a:srgbClr val="F8FAFC"/>
                </a:solidFill>
                <a:latin typeface="Segoe UI"/>
              </a:defRPr>
            </a:pPr>
            <a:r>
              <a:t>Because parent nodes appear before their respective children in the output sequence, Preorder is the standard traversal used to clone/duplicate trees or serialize a tree to disk/JSON so it can be re-constructed accurately!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926080" cy="256032"/>
          </a:xfrm>
          <a:prstGeom prst="roundRect">
            <a:avLst/>
          </a:prstGeom>
          <a:solidFill>
            <a:srgbClr val="0E1420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A855F7"/>
                </a:solidFill>
                <a:latin typeface="Consolas"/>
              </a:defRPr>
            </a:pPr>
            <a:r>
              <a:t>DEPTH-FIRST TRAVERSAL 3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Segoe UI"/>
              </a:defRPr>
            </a:pPr>
            <a:r>
              <a:t>Postorder Traversal: Left → Right → Root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43584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Resolve all descendants and child subtrees before processing the parent root node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600200"/>
            <a:ext cx="10728655" cy="0"/>
          </a:xfrm>
          <a:prstGeom prst="line">
            <a:avLst/>
          </a:prstGeom>
          <a:ln w="12700">
            <a:solidFill>
              <a:srgbClr val="1C2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31520" y="1783080"/>
            <a:ext cx="5303520" cy="4526280"/>
          </a:xfrm>
          <a:prstGeom prst="roundRect">
            <a:avLst/>
          </a:prstGeom>
          <a:solidFill>
            <a:srgbClr val="0E1420"/>
          </a:solidFill>
          <a:ln w="12700">
            <a:solidFill>
              <a:srgbClr val="23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Execution Order Badges (1 to 5)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025395" y="2606040"/>
            <a:ext cx="1357885" cy="844905"/>
          </a:xfrm>
          <a:prstGeom prst="line">
            <a:avLst/>
          </a:prstGeom>
          <a:ln w="279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383280" y="2606040"/>
            <a:ext cx="1357884" cy="844905"/>
          </a:xfrm>
          <a:prstGeom prst="line">
            <a:avLst/>
          </a:prstGeom>
          <a:ln w="279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321307" y="3450945"/>
            <a:ext cx="704088" cy="844906"/>
          </a:xfrm>
          <a:prstGeom prst="line">
            <a:avLst/>
          </a:prstGeom>
          <a:ln w="279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025395" y="3450945"/>
            <a:ext cx="704089" cy="844906"/>
          </a:xfrm>
          <a:prstGeom prst="line">
            <a:avLst/>
          </a:prstGeom>
          <a:ln w="279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090672" y="2313432"/>
            <a:ext cx="585216" cy="585216"/>
          </a:xfrm>
          <a:prstGeom prst="ellipse">
            <a:avLst/>
          </a:prstGeom>
          <a:solidFill>
            <a:srgbClr val="18202F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45" b="1">
                <a:solidFill>
                  <a:srgbClr val="F8FAFC"/>
                </a:solidFill>
                <a:latin typeface="Segoe UI"/>
              </a:defRPr>
            </a:pPr>
            <a:r>
              <a:t>A</a:t>
            </a:r>
          </a:p>
        </p:txBody>
      </p:sp>
      <p:sp>
        <p:nvSpPr>
          <p:cNvPr id="14" name="Oval 13"/>
          <p:cNvSpPr/>
          <p:nvPr/>
        </p:nvSpPr>
        <p:spPr>
          <a:xfrm>
            <a:off x="3547140" y="2325136"/>
            <a:ext cx="264291" cy="264291"/>
          </a:xfrm>
          <a:prstGeom prst="ellipse">
            <a:avLst/>
          </a:prstGeom>
          <a:solidFill>
            <a:srgbClr val="A855F7"/>
          </a:solidFill>
          <a:ln w="15240"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A0F14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15" name="Oval 14"/>
          <p:cNvSpPr/>
          <p:nvPr/>
        </p:nvSpPr>
        <p:spPr>
          <a:xfrm>
            <a:off x="1732787" y="3158337"/>
            <a:ext cx="585216" cy="585216"/>
          </a:xfrm>
          <a:prstGeom prst="ellipse">
            <a:avLst/>
          </a:prstGeom>
          <a:solidFill>
            <a:srgbClr val="18202F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45" b="1">
                <a:solidFill>
                  <a:srgbClr val="F8FAFC"/>
                </a:solidFill>
                <a:latin typeface="Segoe UI"/>
              </a:defRPr>
            </a:pPr>
            <a:r>
              <a:t>B</a:t>
            </a:r>
          </a:p>
        </p:txBody>
      </p:sp>
      <p:sp>
        <p:nvSpPr>
          <p:cNvPr id="16" name="Oval 15"/>
          <p:cNvSpPr/>
          <p:nvPr/>
        </p:nvSpPr>
        <p:spPr>
          <a:xfrm>
            <a:off x="2189256" y="3170041"/>
            <a:ext cx="264291" cy="264291"/>
          </a:xfrm>
          <a:prstGeom prst="ellipse">
            <a:avLst/>
          </a:prstGeom>
          <a:solidFill>
            <a:srgbClr val="A855F7"/>
          </a:solidFill>
          <a:ln w="15240"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A0F14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4448556" y="3158337"/>
            <a:ext cx="585216" cy="585216"/>
          </a:xfrm>
          <a:prstGeom prst="ellipse">
            <a:avLst/>
          </a:prstGeom>
          <a:solidFill>
            <a:srgbClr val="18202F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45" b="1">
                <a:solidFill>
                  <a:srgbClr val="F8FAFC"/>
                </a:solidFill>
                <a:latin typeface="Segoe UI"/>
              </a:defRPr>
            </a:pPr>
            <a:r>
              <a:t>C</a:t>
            </a:r>
          </a:p>
        </p:txBody>
      </p:sp>
      <p:sp>
        <p:nvSpPr>
          <p:cNvPr id="18" name="Oval 17"/>
          <p:cNvSpPr/>
          <p:nvPr/>
        </p:nvSpPr>
        <p:spPr>
          <a:xfrm>
            <a:off x="4905024" y="3170041"/>
            <a:ext cx="264291" cy="264291"/>
          </a:xfrm>
          <a:prstGeom prst="ellipse">
            <a:avLst/>
          </a:prstGeom>
          <a:solidFill>
            <a:srgbClr val="A855F7"/>
          </a:solidFill>
          <a:ln w="15240"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A0F14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19" name="Oval 18"/>
          <p:cNvSpPr/>
          <p:nvPr/>
        </p:nvSpPr>
        <p:spPr>
          <a:xfrm>
            <a:off x="1028699" y="4003243"/>
            <a:ext cx="585216" cy="585216"/>
          </a:xfrm>
          <a:prstGeom prst="ellipse">
            <a:avLst/>
          </a:prstGeom>
          <a:solidFill>
            <a:srgbClr val="18202F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45" b="1">
                <a:solidFill>
                  <a:srgbClr val="F8FAFC"/>
                </a:solidFill>
                <a:latin typeface="Segoe UI"/>
              </a:defRPr>
            </a:pPr>
            <a:r>
              <a:t>D</a:t>
            </a:r>
          </a:p>
        </p:txBody>
      </p:sp>
      <p:sp>
        <p:nvSpPr>
          <p:cNvPr id="20" name="Oval 19"/>
          <p:cNvSpPr/>
          <p:nvPr/>
        </p:nvSpPr>
        <p:spPr>
          <a:xfrm>
            <a:off x="1485168" y="4014947"/>
            <a:ext cx="264291" cy="264291"/>
          </a:xfrm>
          <a:prstGeom prst="ellipse">
            <a:avLst/>
          </a:prstGeom>
          <a:solidFill>
            <a:srgbClr val="A855F7"/>
          </a:solidFill>
          <a:ln w="15240"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A0F14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21" name="Oval 20"/>
          <p:cNvSpPr/>
          <p:nvPr/>
        </p:nvSpPr>
        <p:spPr>
          <a:xfrm>
            <a:off x="2436876" y="4003243"/>
            <a:ext cx="585216" cy="585216"/>
          </a:xfrm>
          <a:prstGeom prst="ellipse">
            <a:avLst/>
          </a:prstGeom>
          <a:solidFill>
            <a:srgbClr val="18202F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45" b="1">
                <a:solidFill>
                  <a:srgbClr val="F8FAFC"/>
                </a:solidFill>
                <a:latin typeface="Segoe UI"/>
              </a:defRPr>
            </a:pPr>
            <a:r>
              <a:t>E</a:t>
            </a:r>
          </a:p>
        </p:txBody>
      </p:sp>
      <p:sp>
        <p:nvSpPr>
          <p:cNvPr id="22" name="Oval 21"/>
          <p:cNvSpPr/>
          <p:nvPr/>
        </p:nvSpPr>
        <p:spPr>
          <a:xfrm>
            <a:off x="2893344" y="4014947"/>
            <a:ext cx="264291" cy="264291"/>
          </a:xfrm>
          <a:prstGeom prst="ellipse">
            <a:avLst/>
          </a:prstGeom>
          <a:solidFill>
            <a:srgbClr val="A855F7"/>
          </a:solidFill>
          <a:ln w="15240"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A0F14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5349240"/>
            <a:ext cx="530352" cy="411480"/>
          </a:xfrm>
          <a:prstGeom prst="roundRect">
            <a:avLst/>
          </a:prstGeom>
          <a:solidFill>
            <a:srgbClr val="0E142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  <a:latin typeface="Segoe UI"/>
              </a:defRPr>
            </a:pPr>
            <a: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73352" y="5349240"/>
            <a:ext cx="3200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A855F7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93392" y="5349240"/>
            <a:ext cx="530352" cy="411480"/>
          </a:xfrm>
          <a:prstGeom prst="roundRect">
            <a:avLst/>
          </a:prstGeom>
          <a:solidFill>
            <a:srgbClr val="0E142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  <a:latin typeface="Segoe UI"/>
              </a:defRPr>
            </a:pPr>
            <a:r>
              <a:t>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23744" y="5349240"/>
            <a:ext cx="3200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A855F7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43784" y="5349240"/>
            <a:ext cx="530352" cy="411480"/>
          </a:xfrm>
          <a:prstGeom prst="roundRect">
            <a:avLst/>
          </a:prstGeom>
          <a:solidFill>
            <a:srgbClr val="0E142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  <a:latin typeface="Segoe UI"/>
              </a:defRPr>
            </a:pPr>
            <a: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74136" y="5349240"/>
            <a:ext cx="3200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A855F7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94176" y="5349240"/>
            <a:ext cx="530352" cy="411480"/>
          </a:xfrm>
          <a:prstGeom prst="roundRect">
            <a:avLst/>
          </a:prstGeom>
          <a:solidFill>
            <a:srgbClr val="0E142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  <a:latin typeface="Segoe UI"/>
              </a:defRPr>
            </a:pPr>
            <a:r>
              <a:t>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24528" y="5349240"/>
            <a:ext cx="3200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A855F7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44568" y="5349240"/>
            <a:ext cx="530352" cy="411480"/>
          </a:xfrm>
          <a:prstGeom prst="roundRect">
            <a:avLst/>
          </a:prstGeom>
          <a:solidFill>
            <a:srgbClr val="0E142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  <a:latin typeface="Segoe UI"/>
              </a:defRPr>
            </a:pPr>
            <a:r>
              <a:t>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1783080"/>
            <a:ext cx="5120640" cy="452628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23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192024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Step-by-Step Chronological Trace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0" y="2377440"/>
            <a:ext cx="4754880" cy="594360"/>
          </a:xfrm>
          <a:prstGeom prst="roundRect">
            <a:avLst/>
          </a:prstGeom>
          <a:solidFill>
            <a:srgbClr val="0E1420"/>
          </a:solidFill>
          <a:ln w="12700">
            <a:solidFill>
              <a:srgbClr val="1C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24231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C084FC"/>
                </a:solidFill>
                <a:latin typeface="Consolas"/>
              </a:defRPr>
            </a:pPr>
            <a:r>
              <a:t>Step 1: Node D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Dive left to bottom leaf D. Left &amp; right are NULL → VISIT(D).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92240" y="3054096"/>
            <a:ext cx="4754880" cy="594360"/>
          </a:xfrm>
          <a:prstGeom prst="roundRect">
            <a:avLst/>
          </a:prstGeom>
          <a:solidFill>
            <a:srgbClr val="0E1420"/>
          </a:solidFill>
          <a:ln w="12700">
            <a:solidFill>
              <a:srgbClr val="1C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3099815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8FAFC"/>
                </a:solidFill>
                <a:latin typeface="Consolas"/>
              </a:defRPr>
            </a:pPr>
            <a:r>
              <a:t>Step 2: Node E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Parent B must finish right child before B can be visited! VISIT(E).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92240" y="3730752"/>
            <a:ext cx="4754880" cy="594360"/>
          </a:xfrm>
          <a:prstGeom prst="roundRect">
            <a:avLst/>
          </a:prstGeom>
          <a:solidFill>
            <a:srgbClr val="0E1420"/>
          </a:solidFill>
          <a:ln w="12700">
            <a:solidFill>
              <a:srgbClr val="1C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377647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8FAFC"/>
                </a:solidFill>
                <a:latin typeface="Consolas"/>
              </a:defRPr>
            </a:pPr>
            <a:r>
              <a:t>Step 3: Node B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Both children of B (D &amp; E) are now fully finished! VISIT(B).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92240" y="4407408"/>
            <a:ext cx="4754880" cy="594360"/>
          </a:xfrm>
          <a:prstGeom prst="roundRect">
            <a:avLst/>
          </a:prstGeom>
          <a:solidFill>
            <a:srgbClr val="0E1420"/>
          </a:solidFill>
          <a:ln w="12700">
            <a:solidFill>
              <a:srgbClr val="1C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445312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8FAFC"/>
                </a:solidFill>
                <a:latin typeface="Consolas"/>
              </a:defRPr>
            </a:pPr>
            <a:r>
              <a:t>Step 4: Node C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Root A must finish right child C before A can be visited! VISIT(C).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92240" y="5084064"/>
            <a:ext cx="4754880" cy="594360"/>
          </a:xfrm>
          <a:prstGeom prst="roundRect">
            <a:avLst/>
          </a:prstGeom>
          <a:solidFill>
            <a:srgbClr val="0E1420"/>
          </a:solidFill>
          <a:ln w="12700">
            <a:solidFill>
              <a:srgbClr val="1C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0" y="5129784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59E0B"/>
                </a:solidFill>
                <a:latin typeface="Consolas"/>
              </a:defRPr>
            </a:pPr>
            <a:r>
              <a:t>Step 5: Node A (Root)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All subtrees in the entire tree are resolved. Finally VISIT(A)!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92240" y="5806440"/>
            <a:ext cx="4754880" cy="384048"/>
          </a:xfrm>
          <a:prstGeom prst="roundRect">
            <a:avLst/>
          </a:prstGeom>
          <a:solidFill>
            <a:srgbClr val="231232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C084FC"/>
                </a:solidFill>
                <a:latin typeface="Consolas"/>
              </a:defRPr>
            </a:pPr>
            <a:r>
              <a:t>CORE PROPERTY: Root A is processed last (5th of 5 nodes).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926080" cy="256032"/>
          </a:xfrm>
          <a:prstGeom prst="roundRect">
            <a:avLst/>
          </a:prstGeom>
          <a:solidFill>
            <a:srgbClr val="0E1420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A855F7"/>
                </a:solidFill>
                <a:latin typeface="Consolas"/>
              </a:defRPr>
            </a:pPr>
            <a:r>
              <a:t>ALGORITHM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Segoe UI"/>
              </a:defRPr>
            </a:pPr>
            <a:r>
              <a:t>Postorder Recursive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43584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Bottom-up dependency resolution, memory deallocation, and expression evaluation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600200"/>
            <a:ext cx="10728655" cy="0"/>
          </a:xfrm>
          <a:prstGeom prst="line">
            <a:avLst/>
          </a:prstGeom>
          <a:ln w="12700">
            <a:solidFill>
              <a:srgbClr val="1C2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31520" y="1783080"/>
            <a:ext cx="5120640" cy="4526280"/>
          </a:xfrm>
          <a:prstGeom prst="roundRect">
            <a:avLst/>
          </a:prstGeom>
          <a:solidFill>
            <a:srgbClr val="0E1420"/>
          </a:solidFill>
          <a:ln w="19050">
            <a:solidFill>
              <a:srgbClr val="23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92807"/>
            <a:ext cx="47548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4D399"/>
                </a:solidFill>
                <a:latin typeface="Consolas"/>
              </a:defRPr>
            </a:pPr>
            <a:r>
              <a:t>// POSTORDER RECURSIVE PSEUDOCODE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4754879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defRPr sz="1100" b="1">
                <a:solidFill>
                  <a:srgbClr val="7DD3FC"/>
                </a:solidFill>
                <a:latin typeface="Consolas"/>
              </a:defRPr>
            </a:pPr>
            <a:r>
              <a:t>function POSTORDER(node):</a:t>
            </a:r>
          </a:p>
          <a:p>
            <a:pPr>
              <a:lnSpc>
                <a:spcPct val="125000"/>
              </a:lnSpc>
              <a:defRPr sz="1100" b="1">
                <a:solidFill>
                  <a:srgbClr val="7DD3FC"/>
                </a:solidFill>
                <a:latin typeface="Consolas"/>
              </a:defRPr>
            </a:pPr>
            <a:r>
              <a:t>    if node == NULL:        // Base Case</a:t>
            </a:r>
          </a:p>
          <a:p>
            <a:pPr>
              <a:lnSpc>
                <a:spcPct val="125000"/>
              </a:lnSpc>
              <a:defRPr sz="1100" b="1">
                <a:solidFill>
                  <a:srgbClr val="7DD3FC"/>
                </a:solidFill>
                <a:latin typeface="Consolas"/>
              </a:defRPr>
            </a:pPr>
            <a:r>
              <a:t>        return</a:t>
            </a:r>
          </a:p>
          <a:p>
            <a:pPr>
              <a:lnSpc>
                <a:spcPct val="125000"/>
              </a:lnSpc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>
              <a:lnSpc>
                <a:spcPct val="125000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  POSTORDER(node.left)    // 1. Recurse Left Subtree</a:t>
            </a:r>
          </a:p>
          <a:p>
            <a:pPr>
              <a:lnSpc>
                <a:spcPct val="125000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  POSTORDER(node.right)   // 2. Recurse Right Subtree</a:t>
            </a:r>
          </a:p>
          <a:p>
            <a:pPr>
              <a:lnSpc>
                <a:spcPct val="125000"/>
              </a:lnSpc>
              <a:defRPr sz="1100" b="1">
                <a:solidFill>
                  <a:srgbClr val="34D399"/>
                </a:solidFill>
                <a:latin typeface="Consolas"/>
              </a:defRPr>
            </a:pPr>
            <a:r>
              <a:t>    VISIT(node)             // 3. Process Current Node Last</a:t>
            </a:r>
          </a:p>
          <a:p>
            <a:pPr>
              <a:lnSpc>
                <a:spcPct val="125000"/>
              </a:lnSpc>
              <a:defRPr sz="1100" b="1">
                <a:solidFill>
                  <a:srgbClr val="7DD3FC"/>
                </a:solidFill>
                <a:latin typeface="Consolas"/>
              </a:defRPr>
            </a:pPr>
            <a:r>
              <a:t>    return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783080"/>
            <a:ext cx="5303520" cy="452628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23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9202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Execution Flow &amp; Bottom-Up Mechanics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377440"/>
            <a:ext cx="4937760" cy="658368"/>
          </a:xfrm>
          <a:prstGeom prst="roundRect">
            <a:avLst/>
          </a:prstGeom>
          <a:solidFill>
            <a:srgbClr val="0E1420"/>
          </a:solidFill>
          <a:ln w="12700">
            <a:solidFill>
              <a:srgbClr val="1C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423160"/>
            <a:ext cx="4663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C084FC"/>
                </a:solidFill>
                <a:latin typeface="Consolas"/>
              </a:defRPr>
            </a:pPr>
            <a:r>
              <a:t>1. Resolve Left Dependencies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Recursively completes the left subproblem completely before any action at the current frame.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145536"/>
            <a:ext cx="4937760" cy="658368"/>
          </a:xfrm>
          <a:prstGeom prst="roundRect">
            <a:avLst/>
          </a:prstGeom>
          <a:solidFill>
            <a:srgbClr val="0E1420"/>
          </a:solidFill>
          <a:ln w="12700">
            <a:solidFill>
              <a:srgbClr val="1C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191256"/>
            <a:ext cx="4663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C084FC"/>
                </a:solidFill>
                <a:latin typeface="Consolas"/>
              </a:defRPr>
            </a:pPr>
            <a:r>
              <a:t>2. Resolve Right Dependencies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Recursively completes the right subproblem. Both subtrees are now fully evaluated.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913632"/>
            <a:ext cx="4937760" cy="658368"/>
          </a:xfrm>
          <a:prstGeom prst="roundRect">
            <a:avLst/>
          </a:prstGeom>
          <a:solidFill>
            <a:srgbClr val="0E1420"/>
          </a:solidFill>
          <a:ln w="12700">
            <a:solidFill>
              <a:srgbClr val="1C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959352"/>
            <a:ext cx="4663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C084FC"/>
                </a:solidFill>
                <a:latin typeface="Consolas"/>
              </a:defRPr>
            </a:pPr>
            <a:r>
              <a:t>3. Process Parent Last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Only when all descendants are accounted for is VISIT(node) called. Guarantees bottom-up computation.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4709160"/>
            <a:ext cx="4937760" cy="1463040"/>
          </a:xfrm>
          <a:prstGeom prst="roundRect">
            <a:avLst/>
          </a:prstGeom>
          <a:solidFill>
            <a:srgbClr val="231232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480060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C084FC"/>
                </a:solidFill>
                <a:latin typeface="Consolas"/>
              </a:defRPr>
            </a:pPr>
            <a:r>
              <a:t>CRUCIAL APPLICATION: SAFE DELETION &amp; MEMORY FREEING</a:t>
            </a:r>
          </a:p>
          <a:p>
            <a:pPr>
              <a:defRPr sz="1050">
                <a:solidFill>
                  <a:srgbClr val="F8FAFC"/>
                </a:solidFill>
                <a:latin typeface="Segoe UI"/>
              </a:defRPr>
            </a:pPr>
            <a:r>
              <a:t>In languages with manual memory management (C, C++), deleting a parent node first destroys pointers to its children, causing orphan memory leaks. Postorder guarantees children are freed first before parent memory is deallocated!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926080" cy="256032"/>
          </a:xfrm>
          <a:prstGeom prst="roundRect">
            <a:avLst/>
          </a:prstGeom>
          <a:solidFill>
            <a:srgbClr val="0E142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0B981"/>
                </a:solidFill>
                <a:latin typeface="Consolas"/>
              </a:defRPr>
            </a:pPr>
            <a:r>
              <a:t>SYNCHRONIZED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Segoe UI"/>
              </a:defRPr>
            </a:pPr>
            <a:r>
              <a:t>Three Traversals. One Tree.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43584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Direct side-by-side comparison on the identical 5-node canonical tree structure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600200"/>
            <a:ext cx="10728655" cy="0"/>
          </a:xfrm>
          <a:prstGeom prst="line">
            <a:avLst/>
          </a:prstGeom>
          <a:ln w="12700">
            <a:solidFill>
              <a:srgbClr val="1C2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31520" y="1783080"/>
            <a:ext cx="3383280" cy="3977639"/>
          </a:xfrm>
          <a:prstGeom prst="roundRect">
            <a:avLst/>
          </a:prstGeom>
          <a:solidFill>
            <a:srgbClr val="131B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901952"/>
            <a:ext cx="3017520" cy="347472"/>
          </a:xfrm>
          <a:prstGeom prst="roundRect">
            <a:avLst/>
          </a:prstGeom>
          <a:solidFill>
            <a:srgbClr val="0A261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0B981"/>
                </a:solidFill>
                <a:latin typeface="Consolas"/>
              </a:defRPr>
            </a:pPr>
            <a:r>
              <a:t>INORDER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Left → Root → Right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1559052" y="2926080"/>
            <a:ext cx="864108" cy="441655"/>
          </a:xfrm>
          <a:prstGeom prst="line">
            <a:avLst/>
          </a:prstGeom>
          <a:ln w="279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423160" y="2926080"/>
            <a:ext cx="864108" cy="441655"/>
          </a:xfrm>
          <a:prstGeom prst="line">
            <a:avLst/>
          </a:prstGeom>
          <a:ln w="279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110996" y="3367735"/>
            <a:ext cx="448056" cy="441655"/>
          </a:xfrm>
          <a:prstGeom prst="line">
            <a:avLst/>
          </a:prstGeom>
          <a:ln w="279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559052" y="3367735"/>
            <a:ext cx="448056" cy="441655"/>
          </a:xfrm>
          <a:prstGeom prst="line">
            <a:avLst/>
          </a:prstGeom>
          <a:ln w="279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2240280" y="2743200"/>
            <a:ext cx="365760" cy="365760"/>
          </a:xfrm>
          <a:prstGeom prst="ellipse">
            <a:avLst/>
          </a:prstGeom>
          <a:solidFill>
            <a:srgbClr val="18202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3" b="1">
                <a:solidFill>
                  <a:srgbClr val="F8FAFC"/>
                </a:solidFill>
                <a:latin typeface="Segoe UI"/>
              </a:defRPr>
            </a:pPr>
            <a:r>
              <a:t>A</a:t>
            </a:r>
          </a:p>
        </p:txBody>
      </p:sp>
      <p:sp>
        <p:nvSpPr>
          <p:cNvPr id="15" name="Oval 14"/>
          <p:cNvSpPr/>
          <p:nvPr/>
        </p:nvSpPr>
        <p:spPr>
          <a:xfrm>
            <a:off x="2525572" y="2750515"/>
            <a:ext cx="165181" cy="165181"/>
          </a:xfrm>
          <a:prstGeom prst="ellipse">
            <a:avLst/>
          </a:prstGeom>
          <a:solidFill>
            <a:srgbClr val="10B981"/>
          </a:solidFill>
          <a:ln w="15240"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A0F14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16" name="Oval 15"/>
          <p:cNvSpPr/>
          <p:nvPr/>
        </p:nvSpPr>
        <p:spPr>
          <a:xfrm>
            <a:off x="1376172" y="3184855"/>
            <a:ext cx="365760" cy="365760"/>
          </a:xfrm>
          <a:prstGeom prst="ellipse">
            <a:avLst/>
          </a:prstGeom>
          <a:solidFill>
            <a:srgbClr val="18202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3" b="1">
                <a:solidFill>
                  <a:srgbClr val="F8FAFC"/>
                </a:solidFill>
                <a:latin typeface="Segoe UI"/>
              </a:defRPr>
            </a:pPr>
            <a:r>
              <a:t>B</a:t>
            </a:r>
          </a:p>
        </p:txBody>
      </p:sp>
      <p:sp>
        <p:nvSpPr>
          <p:cNvPr id="17" name="Oval 16"/>
          <p:cNvSpPr/>
          <p:nvPr/>
        </p:nvSpPr>
        <p:spPr>
          <a:xfrm>
            <a:off x="1661464" y="3192170"/>
            <a:ext cx="165181" cy="165181"/>
          </a:xfrm>
          <a:prstGeom prst="ellipse">
            <a:avLst/>
          </a:prstGeom>
          <a:solidFill>
            <a:srgbClr val="10B981"/>
          </a:solidFill>
          <a:ln w="15240"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A0F14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18" name="Oval 17"/>
          <p:cNvSpPr/>
          <p:nvPr/>
        </p:nvSpPr>
        <p:spPr>
          <a:xfrm>
            <a:off x="3104388" y="3184855"/>
            <a:ext cx="365760" cy="365760"/>
          </a:xfrm>
          <a:prstGeom prst="ellipse">
            <a:avLst/>
          </a:prstGeom>
          <a:solidFill>
            <a:srgbClr val="18202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3" b="1">
                <a:solidFill>
                  <a:srgbClr val="F8FAFC"/>
                </a:solidFill>
                <a:latin typeface="Segoe UI"/>
              </a:defRPr>
            </a:pPr>
            <a:r>
              <a:t>C</a:t>
            </a:r>
          </a:p>
        </p:txBody>
      </p:sp>
      <p:sp>
        <p:nvSpPr>
          <p:cNvPr id="19" name="Oval 18"/>
          <p:cNvSpPr/>
          <p:nvPr/>
        </p:nvSpPr>
        <p:spPr>
          <a:xfrm>
            <a:off x="3389680" y="3192170"/>
            <a:ext cx="165181" cy="165181"/>
          </a:xfrm>
          <a:prstGeom prst="ellipse">
            <a:avLst/>
          </a:prstGeom>
          <a:solidFill>
            <a:srgbClr val="10B981"/>
          </a:solidFill>
          <a:ln w="15240"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A0F14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20" name="Oval 19"/>
          <p:cNvSpPr/>
          <p:nvPr/>
        </p:nvSpPr>
        <p:spPr>
          <a:xfrm>
            <a:off x="928116" y="3626510"/>
            <a:ext cx="365760" cy="365760"/>
          </a:xfrm>
          <a:prstGeom prst="ellipse">
            <a:avLst/>
          </a:prstGeom>
          <a:solidFill>
            <a:srgbClr val="18202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3" b="1">
                <a:solidFill>
                  <a:srgbClr val="F8FAFC"/>
                </a:solidFill>
                <a:latin typeface="Segoe UI"/>
              </a:defRPr>
            </a:pPr>
            <a:r>
              <a:t>D</a:t>
            </a:r>
          </a:p>
        </p:txBody>
      </p:sp>
      <p:sp>
        <p:nvSpPr>
          <p:cNvPr id="21" name="Oval 20"/>
          <p:cNvSpPr/>
          <p:nvPr/>
        </p:nvSpPr>
        <p:spPr>
          <a:xfrm>
            <a:off x="1213408" y="3633825"/>
            <a:ext cx="165181" cy="165181"/>
          </a:xfrm>
          <a:prstGeom prst="ellipse">
            <a:avLst/>
          </a:prstGeom>
          <a:solidFill>
            <a:srgbClr val="10B981"/>
          </a:solidFill>
          <a:ln w="15240"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A0F14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22" name="Oval 21"/>
          <p:cNvSpPr/>
          <p:nvPr/>
        </p:nvSpPr>
        <p:spPr>
          <a:xfrm>
            <a:off x="1824228" y="3626510"/>
            <a:ext cx="365760" cy="365760"/>
          </a:xfrm>
          <a:prstGeom prst="ellipse">
            <a:avLst/>
          </a:prstGeom>
          <a:solidFill>
            <a:srgbClr val="18202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3" b="1">
                <a:solidFill>
                  <a:srgbClr val="F8FAFC"/>
                </a:solidFill>
                <a:latin typeface="Segoe UI"/>
              </a:defRPr>
            </a:pPr>
            <a:r>
              <a:t>E</a:t>
            </a:r>
          </a:p>
        </p:txBody>
      </p:sp>
      <p:sp>
        <p:nvSpPr>
          <p:cNvPr id="23" name="Oval 22"/>
          <p:cNvSpPr/>
          <p:nvPr/>
        </p:nvSpPr>
        <p:spPr>
          <a:xfrm>
            <a:off x="2109520" y="3633825"/>
            <a:ext cx="165181" cy="165181"/>
          </a:xfrm>
          <a:prstGeom prst="ellipse">
            <a:avLst/>
          </a:prstGeom>
          <a:solidFill>
            <a:srgbClr val="10B981"/>
          </a:solidFill>
          <a:ln w="15240"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A0F14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251960"/>
            <a:ext cx="3017520" cy="685800"/>
          </a:xfrm>
          <a:prstGeom prst="roundRect">
            <a:avLst/>
          </a:prstGeom>
          <a:solidFill>
            <a:srgbClr val="0E1420"/>
          </a:solidFill>
          <a:ln w="12700">
            <a:solidFill>
              <a:srgbClr val="1C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279392"/>
            <a:ext cx="29260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64748B"/>
                </a:solidFill>
                <a:latin typeface="Consolas"/>
              </a:defRPr>
            </a:pPr>
            <a:r>
              <a:t>OUTPUT SEQUENCE:</a:t>
            </a:r>
          </a:p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D → B → E → A → 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07492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Segoe UI"/>
              </a:defRPr>
            </a:pPr>
            <a:r>
              <a:t>Root (A) is in Middle (4th)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Produces sorted BST output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98264" y="1783080"/>
            <a:ext cx="3383280" cy="3977639"/>
          </a:xfrm>
          <a:prstGeom prst="roundRect">
            <a:avLst/>
          </a:prstGeom>
          <a:solidFill>
            <a:srgbClr val="131B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581144" y="1901952"/>
            <a:ext cx="3017520" cy="347472"/>
          </a:xfrm>
          <a:prstGeom prst="roundRect">
            <a:avLst/>
          </a:prstGeom>
          <a:solidFill>
            <a:srgbClr val="0C2337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8BDF8"/>
                </a:solidFill>
                <a:latin typeface="Consolas"/>
              </a:defRPr>
            </a:pPr>
            <a:r>
              <a:t>PREORDER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81144" y="228600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Root → Left → Right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5225796" y="2926080"/>
            <a:ext cx="864108" cy="441655"/>
          </a:xfrm>
          <a:prstGeom prst="line">
            <a:avLst/>
          </a:prstGeom>
          <a:ln w="279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089904" y="2926080"/>
            <a:ext cx="864108" cy="441655"/>
          </a:xfrm>
          <a:prstGeom prst="line">
            <a:avLst/>
          </a:prstGeom>
          <a:ln w="279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4777740" y="3367735"/>
            <a:ext cx="448056" cy="441655"/>
          </a:xfrm>
          <a:prstGeom prst="line">
            <a:avLst/>
          </a:prstGeom>
          <a:ln w="279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225796" y="3367735"/>
            <a:ext cx="448056" cy="441655"/>
          </a:xfrm>
          <a:prstGeom prst="line">
            <a:avLst/>
          </a:prstGeom>
          <a:ln w="279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5907024" y="2743200"/>
            <a:ext cx="365760" cy="365760"/>
          </a:xfrm>
          <a:prstGeom prst="ellipse">
            <a:avLst/>
          </a:prstGeom>
          <a:solidFill>
            <a:srgbClr val="18202F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3" b="1">
                <a:solidFill>
                  <a:srgbClr val="F8FAFC"/>
                </a:solidFill>
                <a:latin typeface="Segoe UI"/>
              </a:defRPr>
            </a:pPr>
            <a:r>
              <a:t>A</a:t>
            </a:r>
          </a:p>
        </p:txBody>
      </p:sp>
      <p:sp>
        <p:nvSpPr>
          <p:cNvPr id="35" name="Oval 34"/>
          <p:cNvSpPr/>
          <p:nvPr/>
        </p:nvSpPr>
        <p:spPr>
          <a:xfrm>
            <a:off x="6192316" y="2750515"/>
            <a:ext cx="165181" cy="165181"/>
          </a:xfrm>
          <a:prstGeom prst="ellipse">
            <a:avLst/>
          </a:prstGeom>
          <a:solidFill>
            <a:srgbClr val="38BDF8"/>
          </a:solidFill>
          <a:ln w="15240"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A0F14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36" name="Oval 35"/>
          <p:cNvSpPr/>
          <p:nvPr/>
        </p:nvSpPr>
        <p:spPr>
          <a:xfrm>
            <a:off x="5042916" y="3184855"/>
            <a:ext cx="365760" cy="365760"/>
          </a:xfrm>
          <a:prstGeom prst="ellipse">
            <a:avLst/>
          </a:prstGeom>
          <a:solidFill>
            <a:srgbClr val="18202F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3" b="1">
                <a:solidFill>
                  <a:srgbClr val="F8FAFC"/>
                </a:solidFill>
                <a:latin typeface="Segoe UI"/>
              </a:defRPr>
            </a:pPr>
            <a:r>
              <a:t>B</a:t>
            </a:r>
          </a:p>
        </p:txBody>
      </p:sp>
      <p:sp>
        <p:nvSpPr>
          <p:cNvPr id="37" name="Oval 36"/>
          <p:cNvSpPr/>
          <p:nvPr/>
        </p:nvSpPr>
        <p:spPr>
          <a:xfrm>
            <a:off x="5328208" y="3192170"/>
            <a:ext cx="165181" cy="165181"/>
          </a:xfrm>
          <a:prstGeom prst="ellipse">
            <a:avLst/>
          </a:prstGeom>
          <a:solidFill>
            <a:srgbClr val="38BDF8"/>
          </a:solidFill>
          <a:ln w="15240"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A0F14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38" name="Oval 37"/>
          <p:cNvSpPr/>
          <p:nvPr/>
        </p:nvSpPr>
        <p:spPr>
          <a:xfrm>
            <a:off x="6771132" y="3184855"/>
            <a:ext cx="365760" cy="365760"/>
          </a:xfrm>
          <a:prstGeom prst="ellipse">
            <a:avLst/>
          </a:prstGeom>
          <a:solidFill>
            <a:srgbClr val="18202F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3" b="1">
                <a:solidFill>
                  <a:srgbClr val="F8FAFC"/>
                </a:solidFill>
                <a:latin typeface="Segoe UI"/>
              </a:defRPr>
            </a:pPr>
            <a:r>
              <a:t>C</a:t>
            </a:r>
          </a:p>
        </p:txBody>
      </p:sp>
      <p:sp>
        <p:nvSpPr>
          <p:cNvPr id="39" name="Oval 38"/>
          <p:cNvSpPr/>
          <p:nvPr/>
        </p:nvSpPr>
        <p:spPr>
          <a:xfrm>
            <a:off x="7056424" y="3192170"/>
            <a:ext cx="165181" cy="165181"/>
          </a:xfrm>
          <a:prstGeom prst="ellipse">
            <a:avLst/>
          </a:prstGeom>
          <a:solidFill>
            <a:srgbClr val="38BDF8"/>
          </a:solidFill>
          <a:ln w="15240"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A0F14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40" name="Oval 39"/>
          <p:cNvSpPr/>
          <p:nvPr/>
        </p:nvSpPr>
        <p:spPr>
          <a:xfrm>
            <a:off x="4594859" y="3626510"/>
            <a:ext cx="365760" cy="365760"/>
          </a:xfrm>
          <a:prstGeom prst="ellipse">
            <a:avLst/>
          </a:prstGeom>
          <a:solidFill>
            <a:srgbClr val="18202F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3" b="1">
                <a:solidFill>
                  <a:srgbClr val="F8FAFC"/>
                </a:solidFill>
                <a:latin typeface="Segoe UI"/>
              </a:defRPr>
            </a:pPr>
            <a:r>
              <a:t>D</a:t>
            </a:r>
          </a:p>
        </p:txBody>
      </p:sp>
      <p:sp>
        <p:nvSpPr>
          <p:cNvPr id="41" name="Oval 40"/>
          <p:cNvSpPr/>
          <p:nvPr/>
        </p:nvSpPr>
        <p:spPr>
          <a:xfrm>
            <a:off x="4880152" y="3633825"/>
            <a:ext cx="165181" cy="165181"/>
          </a:xfrm>
          <a:prstGeom prst="ellipse">
            <a:avLst/>
          </a:prstGeom>
          <a:solidFill>
            <a:srgbClr val="38BDF8"/>
          </a:solidFill>
          <a:ln w="15240"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A0F14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42" name="Oval 41"/>
          <p:cNvSpPr/>
          <p:nvPr/>
        </p:nvSpPr>
        <p:spPr>
          <a:xfrm>
            <a:off x="5490972" y="3626510"/>
            <a:ext cx="365760" cy="365760"/>
          </a:xfrm>
          <a:prstGeom prst="ellipse">
            <a:avLst/>
          </a:prstGeom>
          <a:solidFill>
            <a:srgbClr val="18202F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3" b="1">
                <a:solidFill>
                  <a:srgbClr val="F8FAFC"/>
                </a:solidFill>
                <a:latin typeface="Segoe UI"/>
              </a:defRPr>
            </a:pPr>
            <a:r>
              <a:t>E</a:t>
            </a:r>
          </a:p>
        </p:txBody>
      </p:sp>
      <p:sp>
        <p:nvSpPr>
          <p:cNvPr id="43" name="Oval 42"/>
          <p:cNvSpPr/>
          <p:nvPr/>
        </p:nvSpPr>
        <p:spPr>
          <a:xfrm>
            <a:off x="5776264" y="3633825"/>
            <a:ext cx="165181" cy="165181"/>
          </a:xfrm>
          <a:prstGeom prst="ellipse">
            <a:avLst/>
          </a:prstGeom>
          <a:solidFill>
            <a:srgbClr val="38BDF8"/>
          </a:solidFill>
          <a:ln w="15240"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A0F14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81144" y="4251960"/>
            <a:ext cx="3017520" cy="685800"/>
          </a:xfrm>
          <a:prstGeom prst="roundRect">
            <a:avLst/>
          </a:prstGeom>
          <a:solidFill>
            <a:srgbClr val="0E1420"/>
          </a:solidFill>
          <a:ln w="12700">
            <a:solidFill>
              <a:srgbClr val="1C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26864" y="4279392"/>
            <a:ext cx="29260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64748B"/>
                </a:solidFill>
                <a:latin typeface="Consolas"/>
              </a:defRPr>
            </a:pPr>
            <a:r>
              <a:t>OUTPUT SEQUENCE:</a:t>
            </a:r>
          </a:p>
          <a:p>
            <a:pPr>
              <a:defRPr sz="1200" b="1">
                <a:solidFill>
                  <a:srgbClr val="38BDF8"/>
                </a:solidFill>
                <a:latin typeface="Segoe UI"/>
              </a:defRPr>
            </a:pPr>
            <a:r>
              <a:t>A → B → D → E → 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81144" y="507492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Segoe UI"/>
              </a:defRPr>
            </a:pPr>
            <a:r>
              <a:t>Root (A) is First (1st)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Serializes tree structure &amp; clones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65008" y="1783080"/>
            <a:ext cx="3383280" cy="3977639"/>
          </a:xfrm>
          <a:prstGeom prst="roundRect">
            <a:avLst/>
          </a:prstGeom>
          <a:solidFill>
            <a:srgbClr val="131B2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247888" y="1901952"/>
            <a:ext cx="3017520" cy="347472"/>
          </a:xfrm>
          <a:prstGeom prst="roundRect">
            <a:avLst/>
          </a:prstGeom>
          <a:solidFill>
            <a:srgbClr val="231232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A855F7"/>
                </a:solidFill>
                <a:latin typeface="Consolas"/>
              </a:defRPr>
            </a:pPr>
            <a:r>
              <a:t>POSTORDER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47888" y="228600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Left → Right → Root</a:t>
            </a:r>
          </a:p>
        </p:txBody>
      </p:sp>
      <p:cxnSp>
        <p:nvCxnSpPr>
          <p:cNvPr id="50" name="Connector 49"/>
          <p:cNvCxnSpPr/>
          <p:nvPr/>
        </p:nvCxnSpPr>
        <p:spPr>
          <a:xfrm flipH="1">
            <a:off x="8892540" y="2926080"/>
            <a:ext cx="864108" cy="441655"/>
          </a:xfrm>
          <a:prstGeom prst="line">
            <a:avLst/>
          </a:prstGeom>
          <a:ln w="279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756648" y="2926080"/>
            <a:ext cx="864108" cy="441655"/>
          </a:xfrm>
          <a:prstGeom prst="line">
            <a:avLst/>
          </a:prstGeom>
          <a:ln w="279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8444484" y="3367735"/>
            <a:ext cx="448056" cy="441655"/>
          </a:xfrm>
          <a:prstGeom prst="line">
            <a:avLst/>
          </a:prstGeom>
          <a:ln w="279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892540" y="3367735"/>
            <a:ext cx="448056" cy="441655"/>
          </a:xfrm>
          <a:prstGeom prst="line">
            <a:avLst/>
          </a:prstGeom>
          <a:ln w="279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9573768" y="2743200"/>
            <a:ext cx="365760" cy="365760"/>
          </a:xfrm>
          <a:prstGeom prst="ellipse">
            <a:avLst/>
          </a:prstGeom>
          <a:solidFill>
            <a:srgbClr val="18202F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3" b="1">
                <a:solidFill>
                  <a:srgbClr val="F8FAFC"/>
                </a:solidFill>
                <a:latin typeface="Segoe UI"/>
              </a:defRPr>
            </a:pPr>
            <a:r>
              <a:t>A</a:t>
            </a:r>
          </a:p>
        </p:txBody>
      </p:sp>
      <p:sp>
        <p:nvSpPr>
          <p:cNvPr id="55" name="Oval 54"/>
          <p:cNvSpPr/>
          <p:nvPr/>
        </p:nvSpPr>
        <p:spPr>
          <a:xfrm>
            <a:off x="9859060" y="2750515"/>
            <a:ext cx="165181" cy="165181"/>
          </a:xfrm>
          <a:prstGeom prst="ellipse">
            <a:avLst/>
          </a:prstGeom>
          <a:solidFill>
            <a:srgbClr val="A855F7"/>
          </a:solidFill>
          <a:ln w="15240"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A0F14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56" name="Oval 55"/>
          <p:cNvSpPr/>
          <p:nvPr/>
        </p:nvSpPr>
        <p:spPr>
          <a:xfrm>
            <a:off x="8709660" y="3184855"/>
            <a:ext cx="365760" cy="365760"/>
          </a:xfrm>
          <a:prstGeom prst="ellipse">
            <a:avLst/>
          </a:prstGeom>
          <a:solidFill>
            <a:srgbClr val="18202F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3" b="1">
                <a:solidFill>
                  <a:srgbClr val="F8FAFC"/>
                </a:solidFill>
                <a:latin typeface="Segoe UI"/>
              </a:defRPr>
            </a:pPr>
            <a:r>
              <a:t>B</a:t>
            </a:r>
          </a:p>
        </p:txBody>
      </p:sp>
      <p:sp>
        <p:nvSpPr>
          <p:cNvPr id="57" name="Oval 56"/>
          <p:cNvSpPr/>
          <p:nvPr/>
        </p:nvSpPr>
        <p:spPr>
          <a:xfrm>
            <a:off x="8994952" y="3192170"/>
            <a:ext cx="165181" cy="165181"/>
          </a:xfrm>
          <a:prstGeom prst="ellipse">
            <a:avLst/>
          </a:prstGeom>
          <a:solidFill>
            <a:srgbClr val="A855F7"/>
          </a:solidFill>
          <a:ln w="15240"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A0F14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58" name="Oval 57"/>
          <p:cNvSpPr/>
          <p:nvPr/>
        </p:nvSpPr>
        <p:spPr>
          <a:xfrm>
            <a:off x="10437876" y="3184855"/>
            <a:ext cx="365760" cy="365760"/>
          </a:xfrm>
          <a:prstGeom prst="ellipse">
            <a:avLst/>
          </a:prstGeom>
          <a:solidFill>
            <a:srgbClr val="18202F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3" b="1">
                <a:solidFill>
                  <a:srgbClr val="F8FAFC"/>
                </a:solidFill>
                <a:latin typeface="Segoe UI"/>
              </a:defRPr>
            </a:pPr>
            <a:r>
              <a:t>C</a:t>
            </a:r>
          </a:p>
        </p:txBody>
      </p:sp>
      <p:sp>
        <p:nvSpPr>
          <p:cNvPr id="59" name="Oval 58"/>
          <p:cNvSpPr/>
          <p:nvPr/>
        </p:nvSpPr>
        <p:spPr>
          <a:xfrm>
            <a:off x="10723168" y="3192170"/>
            <a:ext cx="165181" cy="165181"/>
          </a:xfrm>
          <a:prstGeom prst="ellipse">
            <a:avLst/>
          </a:prstGeom>
          <a:solidFill>
            <a:srgbClr val="A855F7"/>
          </a:solidFill>
          <a:ln w="15240"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A0F14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60" name="Oval 59"/>
          <p:cNvSpPr/>
          <p:nvPr/>
        </p:nvSpPr>
        <p:spPr>
          <a:xfrm>
            <a:off x="8261604" y="3626510"/>
            <a:ext cx="365760" cy="365760"/>
          </a:xfrm>
          <a:prstGeom prst="ellipse">
            <a:avLst/>
          </a:prstGeom>
          <a:solidFill>
            <a:srgbClr val="18202F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3" b="1">
                <a:solidFill>
                  <a:srgbClr val="F8FAFC"/>
                </a:solidFill>
                <a:latin typeface="Segoe UI"/>
              </a:defRPr>
            </a:pPr>
            <a:r>
              <a:t>D</a:t>
            </a:r>
          </a:p>
        </p:txBody>
      </p:sp>
      <p:sp>
        <p:nvSpPr>
          <p:cNvPr id="61" name="Oval 60"/>
          <p:cNvSpPr/>
          <p:nvPr/>
        </p:nvSpPr>
        <p:spPr>
          <a:xfrm>
            <a:off x="8546896" y="3633825"/>
            <a:ext cx="165181" cy="165181"/>
          </a:xfrm>
          <a:prstGeom prst="ellipse">
            <a:avLst/>
          </a:prstGeom>
          <a:solidFill>
            <a:srgbClr val="A855F7"/>
          </a:solidFill>
          <a:ln w="15240"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A0F14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62" name="Oval 61"/>
          <p:cNvSpPr/>
          <p:nvPr/>
        </p:nvSpPr>
        <p:spPr>
          <a:xfrm>
            <a:off x="9157716" y="3626510"/>
            <a:ext cx="365760" cy="365760"/>
          </a:xfrm>
          <a:prstGeom prst="ellipse">
            <a:avLst/>
          </a:prstGeom>
          <a:solidFill>
            <a:srgbClr val="18202F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3" b="1">
                <a:solidFill>
                  <a:srgbClr val="F8FAFC"/>
                </a:solidFill>
                <a:latin typeface="Segoe UI"/>
              </a:defRPr>
            </a:pPr>
            <a:r>
              <a:t>E</a:t>
            </a:r>
          </a:p>
        </p:txBody>
      </p:sp>
      <p:sp>
        <p:nvSpPr>
          <p:cNvPr id="63" name="Oval 62"/>
          <p:cNvSpPr/>
          <p:nvPr/>
        </p:nvSpPr>
        <p:spPr>
          <a:xfrm>
            <a:off x="9443008" y="3633825"/>
            <a:ext cx="165181" cy="165181"/>
          </a:xfrm>
          <a:prstGeom prst="ellipse">
            <a:avLst/>
          </a:prstGeom>
          <a:solidFill>
            <a:srgbClr val="A855F7"/>
          </a:solidFill>
          <a:ln w="15240"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A0F14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247888" y="4251960"/>
            <a:ext cx="3017520" cy="685800"/>
          </a:xfrm>
          <a:prstGeom prst="roundRect">
            <a:avLst/>
          </a:prstGeom>
          <a:solidFill>
            <a:srgbClr val="0E1420"/>
          </a:solidFill>
          <a:ln w="12700">
            <a:solidFill>
              <a:srgbClr val="1C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93608" y="4279392"/>
            <a:ext cx="29260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64748B"/>
                </a:solidFill>
                <a:latin typeface="Consolas"/>
              </a:defRPr>
            </a:pPr>
            <a:r>
              <a:t>OUTPUT SEQUENCE:</a:t>
            </a:r>
          </a:p>
          <a:p>
            <a:pPr>
              <a:defRPr sz="1200" b="1">
                <a:solidFill>
                  <a:srgbClr val="A855F7"/>
                </a:solidFill>
                <a:latin typeface="Segoe UI"/>
              </a:defRPr>
            </a:pPr>
            <a:r>
              <a:t>D → E → B → C → 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47888" y="507492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Segoe UI"/>
              </a:defRPr>
            </a:pPr>
            <a:r>
              <a:t>Root (A) is Last (5th)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Safe bottom-up deallocation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31520" y="5897880"/>
            <a:ext cx="10728655" cy="594360"/>
          </a:xfrm>
          <a:prstGeom prst="roundRect">
            <a:avLst/>
          </a:prstGeom>
          <a:solidFill>
            <a:srgbClr val="0E142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14400" y="594360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F8FAFC"/>
                </a:solidFill>
                <a:latin typeface="Consolas"/>
              </a:defRPr>
            </a:pPr>
            <a:r>
              <a:t>GOLDEN SEMINAR MEMORY RULE:     PRE  →  Root First      |      IN  →  Root in Between      |      POST  →  Root Last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926080" cy="256032"/>
          </a:xfrm>
          <a:prstGeom prst="roundRect">
            <a:avLst/>
          </a:prstGeom>
          <a:solidFill>
            <a:srgbClr val="0E142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0B981"/>
                </a:solidFill>
                <a:latin typeface="Consolas"/>
              </a:defRPr>
            </a:pPr>
            <a:r>
              <a:t>CROSS-ALGORITHM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Segoe UI"/>
              </a:defRPr>
            </a:pPr>
            <a:r>
              <a:t>Step-by-Step Traversal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43584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Synchronized evaluation matrix tracking node visits across identical algorithmic clocks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600200"/>
            <a:ext cx="10728655" cy="0"/>
          </a:xfrm>
          <a:prstGeom prst="line">
            <a:avLst/>
          </a:prstGeom>
          <a:ln w="12700">
            <a:solidFill>
              <a:srgbClr val="1C2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828800"/>
          <a:ext cx="10728655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005840"/>
                <a:gridCol w="1005840"/>
                <a:gridCol w="1005840"/>
                <a:gridCol w="1005840"/>
                <a:gridCol w="1005840"/>
                <a:gridCol w="2407615"/>
              </a:tblGrid>
              <a:tr h="525780">
                <a:tc>
                  <a:txBody>
                    <a:bodyPr anchor="ctr"/>
                    <a:lstStyle/>
                    <a:p>
                      <a:pPr algn="l">
                        <a:defRPr sz="1000" b="1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Traversal</a:t>
                      </a:r>
                    </a:p>
                  </a:txBody>
                  <a:tcPr>
                    <a:solidFill>
                      <a:srgbClr val="0E142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defRPr sz="1000" b="1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Rule</a:t>
                      </a:r>
                    </a:p>
                  </a:txBody>
                  <a:tcPr>
                    <a:solidFill>
                      <a:srgbClr val="0E142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 b="1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Step 1</a:t>
                      </a:r>
                    </a:p>
                  </a:txBody>
                  <a:tcPr>
                    <a:solidFill>
                      <a:srgbClr val="0E142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 b="1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Step 2</a:t>
                      </a:r>
                    </a:p>
                  </a:txBody>
                  <a:tcPr>
                    <a:solidFill>
                      <a:srgbClr val="0E142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 b="1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Step 3</a:t>
                      </a:r>
                    </a:p>
                  </a:txBody>
                  <a:tcPr>
                    <a:solidFill>
                      <a:srgbClr val="0E142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 b="1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Step 4</a:t>
                      </a:r>
                    </a:p>
                  </a:txBody>
                  <a:tcPr>
                    <a:solidFill>
                      <a:srgbClr val="0E142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 b="1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Step 5</a:t>
                      </a:r>
                    </a:p>
                  </a:txBody>
                  <a:tcPr>
                    <a:solidFill>
                      <a:srgbClr val="0E142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 b="1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Root 'A' Position</a:t>
                      </a:r>
                    </a:p>
                  </a:txBody>
                  <a:tcPr>
                    <a:solidFill>
                      <a:srgbClr val="0E1420"/>
                    </a:solidFill>
                  </a:tcPr>
                </a:tc>
              </a:tr>
              <a:tr h="525780">
                <a:tc>
                  <a:txBody>
                    <a:bodyPr anchor="ctr"/>
                    <a:lstStyle/>
                    <a:p>
                      <a:pPr algn="l">
                        <a:defRPr sz="110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Inorder</a:t>
                      </a:r>
                    </a:p>
                  </a:txBody>
                  <a:tcPr>
                    <a:solidFill>
                      <a:srgbClr val="131B2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 b="1">
                          <a:solidFill>
                            <a:srgbClr val="F59E0B"/>
                          </a:solidFill>
                          <a:latin typeface="Segoe UI"/>
                        </a:defRPr>
                      </a:pPr>
                      <a:r>
                        <a:t>Left → Root → Right</a:t>
                      </a:r>
                    </a:p>
                  </a:txBody>
                  <a:tcPr>
                    <a:solidFill>
                      <a:srgbClr val="131B2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</a:t>
                      </a:r>
                    </a:p>
                  </a:txBody>
                  <a:tcPr>
                    <a:solidFill>
                      <a:srgbClr val="131B2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31B2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E</a:t>
                      </a:r>
                    </a:p>
                  </a:txBody>
                  <a:tcPr>
                    <a:solidFill>
                      <a:srgbClr val="131B2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 b="1">
                          <a:solidFill>
                            <a:srgbClr val="F59E0B"/>
                          </a:solidFill>
                          <a:latin typeface="Segoe UI"/>
                        </a:defRPr>
                      </a:pPr>
                      <a:r>
                        <a:t>A (Root)</a:t>
                      </a:r>
                    </a:p>
                  </a:txBody>
                  <a:tcPr>
                    <a:solidFill>
                      <a:srgbClr val="131B2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131B2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Middle (Index 3 / Step 4)</a:t>
                      </a:r>
                    </a:p>
                  </a:txBody>
                  <a:tcPr>
                    <a:solidFill>
                      <a:srgbClr val="131B2A"/>
                    </a:solidFill>
                  </a:tcPr>
                </a:tc>
              </a:tr>
              <a:tr h="525780">
                <a:tc>
                  <a:txBody>
                    <a:bodyPr anchor="ctr"/>
                    <a:lstStyle/>
                    <a:p>
                      <a:pPr algn="l">
                        <a:defRPr sz="1100" b="1">
                          <a:solidFill>
                            <a:srgbClr val="7DD3FC"/>
                          </a:solidFill>
                          <a:latin typeface="Segoe UI"/>
                        </a:defRPr>
                      </a:pPr>
                      <a:r>
                        <a:t>Preorder</a:t>
                      </a:r>
                    </a:p>
                  </a:txBody>
                  <a:tcPr>
                    <a:solidFill>
                      <a:srgbClr val="131B2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 b="1">
                          <a:solidFill>
                            <a:srgbClr val="F59E0B"/>
                          </a:solidFill>
                          <a:latin typeface="Segoe UI"/>
                        </a:defRPr>
                      </a:pPr>
                      <a:r>
                        <a:t>Root → Left → Right</a:t>
                      </a:r>
                    </a:p>
                  </a:txBody>
                  <a:tcPr>
                    <a:solidFill>
                      <a:srgbClr val="131B2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 b="1">
                          <a:solidFill>
                            <a:srgbClr val="F59E0B"/>
                          </a:solidFill>
                          <a:latin typeface="Segoe UI"/>
                        </a:defRPr>
                      </a:pPr>
                      <a:r>
                        <a:t>A (Root)</a:t>
                      </a:r>
                    </a:p>
                  </a:txBody>
                  <a:tcPr>
                    <a:solidFill>
                      <a:srgbClr val="131B2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31B2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</a:t>
                      </a:r>
                    </a:p>
                  </a:txBody>
                  <a:tcPr>
                    <a:solidFill>
                      <a:srgbClr val="131B2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E</a:t>
                      </a:r>
                    </a:p>
                  </a:txBody>
                  <a:tcPr>
                    <a:solidFill>
                      <a:srgbClr val="131B2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131B2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First (Index 0 / Step 1)</a:t>
                      </a:r>
                    </a:p>
                  </a:txBody>
                  <a:tcPr>
                    <a:solidFill>
                      <a:srgbClr val="131B2A"/>
                    </a:solidFill>
                  </a:tcPr>
                </a:tc>
              </a:tr>
              <a:tr h="525780">
                <a:tc>
                  <a:txBody>
                    <a:bodyPr anchor="ctr"/>
                    <a:lstStyle/>
                    <a:p>
                      <a:pPr algn="l">
                        <a:defRPr sz="1100" b="1">
                          <a:solidFill>
                            <a:srgbClr val="C084FC"/>
                          </a:solidFill>
                          <a:latin typeface="Segoe UI"/>
                        </a:defRPr>
                      </a:pPr>
                      <a:r>
                        <a:t>Postorder</a:t>
                      </a:r>
                    </a:p>
                  </a:txBody>
                  <a:tcPr>
                    <a:solidFill>
                      <a:srgbClr val="131B2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 b="1">
                          <a:solidFill>
                            <a:srgbClr val="F59E0B"/>
                          </a:solidFill>
                          <a:latin typeface="Segoe UI"/>
                        </a:defRPr>
                      </a:pPr>
                      <a:r>
                        <a:t>Left → Right → Root</a:t>
                      </a:r>
                    </a:p>
                  </a:txBody>
                  <a:tcPr>
                    <a:solidFill>
                      <a:srgbClr val="131B2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</a:t>
                      </a:r>
                    </a:p>
                  </a:txBody>
                  <a:tcPr>
                    <a:solidFill>
                      <a:srgbClr val="131B2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E</a:t>
                      </a:r>
                    </a:p>
                  </a:txBody>
                  <a:tcPr>
                    <a:solidFill>
                      <a:srgbClr val="131B2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31B2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131B2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 b="1">
                          <a:solidFill>
                            <a:srgbClr val="F59E0B"/>
                          </a:solidFill>
                          <a:latin typeface="Segoe UI"/>
                        </a:defRPr>
                      </a:pPr>
                      <a:r>
                        <a:t>A (Root)</a:t>
                      </a:r>
                    </a:p>
                  </a:txBody>
                  <a:tcPr>
                    <a:solidFill>
                      <a:srgbClr val="131B2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Last (Index 4 / Step 5)</a:t>
                      </a:r>
                    </a:p>
                  </a:txBody>
                  <a:tcPr>
                    <a:solidFill>
                      <a:srgbClr val="131B2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4251960"/>
            <a:ext cx="3337560" cy="2103120"/>
          </a:xfrm>
          <a:prstGeom prst="roundRect">
            <a:avLst/>
          </a:prstGeom>
          <a:solidFill>
            <a:srgbClr val="0E1420"/>
          </a:solidFill>
          <a:ln w="12700">
            <a:solidFill>
              <a:srgbClr val="1C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2971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DD3FC"/>
                </a:solidFill>
                <a:latin typeface="Segoe UI"/>
              </a:defRPr>
            </a:pPr>
            <a:r>
              <a:t>Left Subtree Always Precedes Right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Notice that in ALL three traversals, nodes D and E (left subtree) are visited BEFORE node C (right subtree). DFS hierarchy is maintained.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4251960"/>
            <a:ext cx="3337560" cy="2103120"/>
          </a:xfrm>
          <a:prstGeom prst="roundRect">
            <a:avLst/>
          </a:prstGeom>
          <a:solidFill>
            <a:srgbClr val="0E1420"/>
          </a:solidFill>
          <a:ln w="12700">
            <a:solidFill>
              <a:srgbClr val="1C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4389120"/>
            <a:ext cx="2971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4D399"/>
                </a:solidFill>
                <a:latin typeface="Segoe UI"/>
              </a:defRPr>
            </a:pPr>
            <a:r>
              <a:t>Root is the Sole Variable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The position of Root A shifts systematically: Preorder (Step 1) → Inorder (Step 4) → Postorder (Step 5). This dictates their respective applications.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4" y="4251960"/>
            <a:ext cx="3337560" cy="2103120"/>
          </a:xfrm>
          <a:prstGeom prst="roundRect">
            <a:avLst/>
          </a:prstGeom>
          <a:solidFill>
            <a:srgbClr val="0E1420"/>
          </a:solidFill>
          <a:ln w="12700">
            <a:solidFill>
              <a:srgbClr val="1C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4464" y="4389120"/>
            <a:ext cx="2971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084FC"/>
                </a:solidFill>
                <a:latin typeface="Segoe UI"/>
              </a:defRPr>
            </a:pPr>
            <a:r>
              <a:t>Unique Tree Reconstruction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Can we rebuild a binary tree from a traversal? Yes! Inorder combined with Preorder OR Postorder guarantees 100% unique tree reconstruction.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926080" cy="256032"/>
          </a:xfrm>
          <a:prstGeom prst="roundRect">
            <a:avLst/>
          </a:prstGeom>
          <a:solidFill>
            <a:srgbClr val="0E142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0B981"/>
                </a:solidFill>
                <a:latin typeface="Consolas"/>
              </a:defRPr>
            </a:pPr>
            <a:r>
              <a:t>ASYMPTOTIC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Segoe UI"/>
              </a:defRPr>
            </a:pPr>
            <a:r>
              <a:t>Time &amp; Space Complexity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43584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Evaluating computational scaling and recursive call stack depth across tree topologies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600200"/>
            <a:ext cx="10728655" cy="0"/>
          </a:xfrm>
          <a:prstGeom prst="line">
            <a:avLst/>
          </a:prstGeom>
          <a:ln w="12700">
            <a:solidFill>
              <a:srgbClr val="1C2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31520" y="1783080"/>
            <a:ext cx="5212080" cy="1143000"/>
          </a:xfrm>
          <a:prstGeom prst="roundRect">
            <a:avLst/>
          </a:prstGeom>
          <a:solidFill>
            <a:srgbClr val="131B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4846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Consolas"/>
              </a:defRPr>
            </a:pPr>
            <a:r>
              <a:t>TIME COMPLEXITY: O(n)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Every node is visited exactly once. At each node, a constant O(1) amount of work (checking null, printing) is done. Total runtime = O(n) where n = number of nodes.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783080"/>
            <a:ext cx="5212080" cy="1143000"/>
          </a:xfrm>
          <a:prstGeom prst="roundRect">
            <a:avLst/>
          </a:prstGeom>
          <a:solidFill>
            <a:srgbClr val="131B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0975" y="1874519"/>
            <a:ext cx="4846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DD3FC"/>
                </a:solidFill>
                <a:latin typeface="Consolas"/>
              </a:defRPr>
            </a:pPr>
            <a:r>
              <a:t>SPACE COMPLEXITY: O(h)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Auxiliary memory is consumed by the recursion call stack frames. The maximum number of active stack frames equals the tree height h. Thus space is O(h).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5212080" cy="3200400"/>
          </a:xfrm>
          <a:prstGeom prst="roundRect">
            <a:avLst/>
          </a:prstGeom>
          <a:solidFill>
            <a:srgbClr val="0E1420"/>
          </a:solidFill>
          <a:ln w="12700">
            <a:solidFill>
              <a:srgbClr val="23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461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4D399"/>
                </a:solidFill>
                <a:latin typeface="Consolas"/>
              </a:defRPr>
            </a:pPr>
            <a:r>
              <a:t>BEST CASE: Balanced Tree (h = O(log n))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2350008" y="3703320"/>
            <a:ext cx="987552" cy="576072"/>
          </a:xfrm>
          <a:prstGeom prst="line">
            <a:avLst/>
          </a:prstGeom>
          <a:ln w="279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337560" y="3703320"/>
            <a:ext cx="987552" cy="576072"/>
          </a:xfrm>
          <a:prstGeom prst="line">
            <a:avLst/>
          </a:prstGeom>
          <a:ln w="279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1837943" y="4279392"/>
            <a:ext cx="512065" cy="576072"/>
          </a:xfrm>
          <a:prstGeom prst="line">
            <a:avLst/>
          </a:prstGeom>
          <a:ln w="279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350008" y="4279392"/>
            <a:ext cx="512064" cy="576072"/>
          </a:xfrm>
          <a:prstGeom prst="line">
            <a:avLst/>
          </a:prstGeom>
          <a:ln w="279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136391" y="3502151"/>
            <a:ext cx="402336" cy="402336"/>
          </a:xfrm>
          <a:prstGeom prst="ellipse">
            <a:avLst/>
          </a:prstGeom>
          <a:solidFill>
            <a:srgbClr val="18202F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93" b="1">
                <a:solidFill>
                  <a:srgbClr val="F8FAFC"/>
                </a:solidFill>
                <a:latin typeface="Segoe UI"/>
              </a:defRPr>
            </a:pPr>
            <a:r>
              <a:t>A</a:t>
            </a:r>
          </a:p>
        </p:txBody>
      </p:sp>
      <p:sp>
        <p:nvSpPr>
          <p:cNvPr id="18" name="Oval 17"/>
          <p:cNvSpPr/>
          <p:nvPr/>
        </p:nvSpPr>
        <p:spPr>
          <a:xfrm>
            <a:off x="2148839" y="4078224"/>
            <a:ext cx="402336" cy="402336"/>
          </a:xfrm>
          <a:prstGeom prst="ellipse">
            <a:avLst/>
          </a:prstGeom>
          <a:solidFill>
            <a:srgbClr val="18202F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93" b="1">
                <a:solidFill>
                  <a:srgbClr val="F8FAFC"/>
                </a:solidFill>
                <a:latin typeface="Segoe UI"/>
              </a:defRPr>
            </a:pPr>
            <a:r>
              <a:t>B</a:t>
            </a:r>
          </a:p>
        </p:txBody>
      </p:sp>
      <p:sp>
        <p:nvSpPr>
          <p:cNvPr id="19" name="Oval 18"/>
          <p:cNvSpPr/>
          <p:nvPr/>
        </p:nvSpPr>
        <p:spPr>
          <a:xfrm>
            <a:off x="4123944" y="4078224"/>
            <a:ext cx="402336" cy="402336"/>
          </a:xfrm>
          <a:prstGeom prst="ellipse">
            <a:avLst/>
          </a:prstGeom>
          <a:solidFill>
            <a:srgbClr val="18202F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93" b="1">
                <a:solidFill>
                  <a:srgbClr val="F8FAFC"/>
                </a:solidFill>
                <a:latin typeface="Segoe UI"/>
              </a:defRPr>
            </a:pPr>
            <a:r>
              <a:t>C</a:t>
            </a:r>
          </a:p>
        </p:txBody>
      </p:sp>
      <p:sp>
        <p:nvSpPr>
          <p:cNvPr id="20" name="Oval 19"/>
          <p:cNvSpPr/>
          <p:nvPr/>
        </p:nvSpPr>
        <p:spPr>
          <a:xfrm>
            <a:off x="1636775" y="4654296"/>
            <a:ext cx="402336" cy="402336"/>
          </a:xfrm>
          <a:prstGeom prst="ellipse">
            <a:avLst/>
          </a:prstGeom>
          <a:solidFill>
            <a:srgbClr val="18202F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93" b="1">
                <a:solidFill>
                  <a:srgbClr val="F8FAFC"/>
                </a:solidFill>
                <a:latin typeface="Segoe UI"/>
              </a:defRPr>
            </a:pPr>
            <a:r>
              <a:t>D</a:t>
            </a:r>
          </a:p>
        </p:txBody>
      </p:sp>
      <p:sp>
        <p:nvSpPr>
          <p:cNvPr id="21" name="Oval 20"/>
          <p:cNvSpPr/>
          <p:nvPr/>
        </p:nvSpPr>
        <p:spPr>
          <a:xfrm>
            <a:off x="2660903" y="4654296"/>
            <a:ext cx="402336" cy="402336"/>
          </a:xfrm>
          <a:prstGeom prst="ellipse">
            <a:avLst/>
          </a:prstGeom>
          <a:solidFill>
            <a:srgbClr val="18202F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93" b="1">
                <a:solidFill>
                  <a:srgbClr val="F8FAFC"/>
                </a:solidFill>
                <a:latin typeface="Segoe UI"/>
              </a:defRPr>
            </a:pPr>
            <a:r>
              <a:t>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44068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Height h = ⌊log₂ n⌋ + 1 ≈ 3 for 5 nodes. The recursive call stack never exceeds 3 frames deep. Optimal logarithmic memory footprint.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48095" y="3108960"/>
            <a:ext cx="5212080" cy="3200400"/>
          </a:xfrm>
          <a:prstGeom prst="roundRect">
            <a:avLst/>
          </a:prstGeom>
          <a:solidFill>
            <a:srgbClr val="0E1420"/>
          </a:solidFill>
          <a:ln w="12700">
            <a:solidFill>
              <a:srgbClr val="23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0975" y="324612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Consolas"/>
              </a:defRPr>
            </a:pPr>
            <a:r>
              <a:t>WORST CASE: Skewed Tree (h = O(n))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635240" y="3794760"/>
            <a:ext cx="365760" cy="36576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4160520"/>
            <a:ext cx="365760" cy="36576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366760" y="4526280"/>
            <a:ext cx="365760" cy="36576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7452360" y="3611880"/>
            <a:ext cx="365760" cy="365760"/>
          </a:xfrm>
          <a:prstGeom prst="ellipse">
            <a:avLst/>
          </a:prstGeom>
          <a:solidFill>
            <a:srgbClr val="18202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A</a:t>
            </a:r>
          </a:p>
        </p:txBody>
      </p:sp>
      <p:sp>
        <p:nvSpPr>
          <p:cNvPr id="29" name="Oval 28"/>
          <p:cNvSpPr/>
          <p:nvPr/>
        </p:nvSpPr>
        <p:spPr>
          <a:xfrm>
            <a:off x="7818120" y="3977639"/>
            <a:ext cx="365760" cy="365760"/>
          </a:xfrm>
          <a:prstGeom prst="ellipse">
            <a:avLst/>
          </a:prstGeom>
          <a:solidFill>
            <a:srgbClr val="18202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B</a:t>
            </a:r>
          </a:p>
        </p:txBody>
      </p:sp>
      <p:sp>
        <p:nvSpPr>
          <p:cNvPr id="30" name="Oval 29"/>
          <p:cNvSpPr/>
          <p:nvPr/>
        </p:nvSpPr>
        <p:spPr>
          <a:xfrm>
            <a:off x="8183880" y="4343400"/>
            <a:ext cx="365760" cy="365760"/>
          </a:xfrm>
          <a:prstGeom prst="ellipse">
            <a:avLst/>
          </a:prstGeom>
          <a:solidFill>
            <a:srgbClr val="18202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C</a:t>
            </a:r>
          </a:p>
        </p:txBody>
      </p:sp>
      <p:sp>
        <p:nvSpPr>
          <p:cNvPr id="31" name="Oval 30"/>
          <p:cNvSpPr/>
          <p:nvPr/>
        </p:nvSpPr>
        <p:spPr>
          <a:xfrm>
            <a:off x="8549640" y="4709159"/>
            <a:ext cx="365760" cy="365760"/>
          </a:xfrm>
          <a:prstGeom prst="ellipse">
            <a:avLst/>
          </a:prstGeom>
          <a:solidFill>
            <a:srgbClr val="18202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30975" y="544068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Tree degenerates into a Linked List where height h = n. Recursion stack consumes O(n) frames, risking stack overflow on large unbalanced trees.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926080" cy="256032"/>
          </a:xfrm>
          <a:prstGeom prst="roundRect">
            <a:avLst/>
          </a:prstGeom>
          <a:solidFill>
            <a:srgbClr val="0E142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0B981"/>
                </a:solidFill>
                <a:latin typeface="Consolas"/>
              </a:defRPr>
            </a:pPr>
            <a:r>
              <a:t>INDUSTRY APPLICATIONS &amp;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Segoe UI"/>
              </a:defRPr>
            </a:pPr>
            <a:r>
              <a:t>Practical Applications &amp; Interactive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43584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When to use which traversal strategy in production software systems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600200"/>
            <a:ext cx="10728655" cy="0"/>
          </a:xfrm>
          <a:prstGeom prst="line">
            <a:avLst/>
          </a:prstGeom>
          <a:ln w="12700">
            <a:solidFill>
              <a:srgbClr val="1C2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31520" y="1783080"/>
            <a:ext cx="3337560" cy="2971800"/>
          </a:xfrm>
          <a:prstGeom prst="roundRect">
            <a:avLst/>
          </a:prstGeom>
          <a:solidFill>
            <a:srgbClr val="131B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920240"/>
            <a:ext cx="2971800" cy="320040"/>
          </a:xfrm>
          <a:prstGeom prst="roundRect">
            <a:avLst/>
          </a:prstGeom>
          <a:solidFill>
            <a:srgbClr val="0E1420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  <a:latin typeface="Consolas"/>
              </a:defRPr>
            </a:pPr>
            <a:r>
              <a:t>INORDER USE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2971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• BST Sorted Extraction</a:t>
            </a:r>
          </a:p>
          <a:p>
            <a:pPr>
              <a:defRPr sz="919">
                <a:solidFill>
                  <a:srgbClr val="94A3B8"/>
                </a:solidFill>
                <a:latin typeface="Segoe UI"/>
              </a:defRPr>
            </a:pPr>
            <a:r>
              <a:t>Yields elements in strictly non-decreasing order without secondary sorting overhead.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81527"/>
            <a:ext cx="2971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• Infix Math Evaluation</a:t>
            </a:r>
          </a:p>
          <a:p>
            <a:pPr>
              <a:defRPr sz="919">
                <a:solidFill>
                  <a:srgbClr val="94A3B8"/>
                </a:solidFill>
                <a:latin typeface="Segoe UI"/>
              </a:defRPr>
            </a:pPr>
            <a:r>
              <a:t>Transforms Abstract Syntax Trees (AST) into readable infix math expressions: (A + B) * 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31335"/>
            <a:ext cx="2971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• Tree Flattening</a:t>
            </a:r>
          </a:p>
          <a:p>
            <a:pPr>
              <a:defRPr sz="919">
                <a:solidFill>
                  <a:srgbClr val="94A3B8"/>
                </a:solidFill>
                <a:latin typeface="Segoe UI"/>
              </a:defRPr>
            </a:pPr>
            <a:r>
              <a:t>Flattens binary search trees into sorted arrays or double linked lists.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2971800"/>
          </a:xfrm>
          <a:prstGeom prst="roundRect">
            <a:avLst/>
          </a:prstGeom>
          <a:solidFill>
            <a:srgbClr val="131B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99432" y="1920240"/>
            <a:ext cx="2971800" cy="320040"/>
          </a:xfrm>
          <a:prstGeom prst="roundRect">
            <a:avLst/>
          </a:prstGeom>
          <a:solidFill>
            <a:srgbClr val="0E1420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Consolas"/>
              </a:defRPr>
            </a:pPr>
            <a:r>
              <a:t>PREORDER USE CASES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331720"/>
            <a:ext cx="2971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• Tree Cloning &amp; Serialization</a:t>
            </a:r>
          </a:p>
          <a:p>
            <a:pPr>
              <a:defRPr sz="919">
                <a:solidFill>
                  <a:srgbClr val="94A3B8"/>
                </a:solidFill>
                <a:latin typeface="Segoe UI"/>
              </a:defRPr>
            </a:pPr>
            <a:r>
              <a:t>Dumps tree structures to JSON or binary streams so they can be re-instantiated top-down.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3081527"/>
            <a:ext cx="2971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• Prefix Expression (Polish)</a:t>
            </a:r>
          </a:p>
          <a:p>
            <a:pPr>
              <a:defRPr sz="919">
                <a:solidFill>
                  <a:srgbClr val="94A3B8"/>
                </a:solidFill>
                <a:latin typeface="Segoe UI"/>
              </a:defRPr>
            </a:pPr>
            <a:r>
              <a:t>Generates prefix notation (+ A B) for compilers and stack machines.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3831335"/>
            <a:ext cx="2971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• Directory Printing</a:t>
            </a:r>
          </a:p>
          <a:p>
            <a:pPr>
              <a:defRPr sz="919">
                <a:solidFill>
                  <a:srgbClr val="94A3B8"/>
                </a:solidFill>
                <a:latin typeface="Segoe UI"/>
              </a:defRPr>
            </a:pPr>
            <a:r>
              <a:t>Renders hierarchical folder trees and file explorers with parent folders ahead of files.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4" y="1783080"/>
            <a:ext cx="3337560" cy="2971800"/>
          </a:xfrm>
          <a:prstGeom prst="roundRect">
            <a:avLst/>
          </a:prstGeom>
          <a:solidFill>
            <a:srgbClr val="131B2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84464" y="1920240"/>
            <a:ext cx="2971800" cy="320040"/>
          </a:xfrm>
          <a:prstGeom prst="roundRect">
            <a:avLst/>
          </a:prstGeom>
          <a:solidFill>
            <a:srgbClr val="0E1420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855F7"/>
                </a:solidFill>
                <a:latin typeface="Consolas"/>
              </a:defRPr>
            </a:pPr>
            <a:r>
              <a:t>POSTORDER USE CASES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2331720"/>
            <a:ext cx="2971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• Safe Memory Freeing</a:t>
            </a:r>
          </a:p>
          <a:p>
            <a:pPr>
              <a:defRPr sz="919">
                <a:solidFill>
                  <a:srgbClr val="94A3B8"/>
                </a:solidFill>
                <a:latin typeface="Segoe UI"/>
              </a:defRPr>
            </a:pPr>
            <a:r>
              <a:t>Ensures child subtrees are deallocated before freeing the parent in C/C++.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3081527"/>
            <a:ext cx="2971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• Postfix (Reverse Polish)</a:t>
            </a:r>
          </a:p>
          <a:p>
            <a:pPr>
              <a:defRPr sz="919">
                <a:solidFill>
                  <a:srgbClr val="94A3B8"/>
                </a:solidFill>
                <a:latin typeface="Segoe UI"/>
              </a:defRPr>
            </a:pPr>
            <a:r>
              <a:t>Evaluates arithmetic parse trees from the bottom up (operands first, then operator).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3831335"/>
            <a:ext cx="2971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• Directory Disk Usage</a:t>
            </a:r>
          </a:p>
          <a:p>
            <a:pPr>
              <a:defRPr sz="919">
                <a:solidFill>
                  <a:srgbClr val="94A3B8"/>
                </a:solidFill>
                <a:latin typeface="Segoe UI"/>
              </a:defRPr>
            </a:pPr>
            <a:r>
              <a:t>Computes total folder disk space by summing child file sizes before reporting parent total.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937760"/>
            <a:ext cx="10728655" cy="1417320"/>
          </a:xfrm>
          <a:prstGeom prst="roundRect">
            <a:avLst/>
          </a:prstGeom>
          <a:solidFill>
            <a:srgbClr val="0A261E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029200"/>
            <a:ext cx="101498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Consolas"/>
              </a:defRPr>
            </a:pPr>
            <a:r>
              <a:t>ONE TREE. THREE WAYS TO SEE IT.</a:t>
            </a:r>
          </a:p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Let's Visualize It Live → Launching the Interactive Platform</a:t>
            </a:r>
          </a:p>
          <a:p>
            <a:pPr>
              <a:defRPr sz="1100">
                <a:solidFill>
                  <a:srgbClr val="C8F0DC"/>
                </a:solidFill>
                <a:latin typeface="Segoe UI"/>
              </a:defRPr>
            </a:pPr>
            <a:r>
              <a:t>Switching to the interactive React visualizer to observe real-time step animations, call stack frames, synchronized pseudocode execution, and custom tree creation!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